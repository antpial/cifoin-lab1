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handoutMasterIdLst>
    <p:handoutMasterId r:id="rId18"/>
  </p:handoutMasterIdLst>
  <p:sldIdLst>
    <p:sldId id="256" r:id="rId2"/>
    <p:sldId id="295" r:id="rId3"/>
    <p:sldId id="290" r:id="rId4"/>
    <p:sldId id="298" r:id="rId5"/>
    <p:sldId id="300" r:id="rId6"/>
    <p:sldId id="299" r:id="rId7"/>
    <p:sldId id="291" r:id="rId8"/>
    <p:sldId id="292" r:id="rId9"/>
    <p:sldId id="297" r:id="rId10"/>
    <p:sldId id="301" r:id="rId11"/>
    <p:sldId id="293" r:id="rId12"/>
    <p:sldId id="302" r:id="rId13"/>
    <p:sldId id="303" r:id="rId14"/>
    <p:sldId id="304" r:id="rId15"/>
    <p:sldId id="288" r:id="rId16"/>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82" d="100"/>
          <a:sy n="82" d="100"/>
        </p:scale>
        <p:origin x="115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0C5DF-8321-D67B-CE75-FC6B7281504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D43AA59-B752-144E-8157-CEFBAF28FBB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AB0C49-982F-57DB-DA55-3C046F20BEC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02CC884-4D5A-8F4B-F1DD-9573B5A3CBDD}"/>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013459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23C2F-40B0-7422-F8B9-84286A19C3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521387C-2EFB-9431-2FA7-E75358C277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767FBFC-FE19-6E89-1835-915DFC61D25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4E892AE-A784-F704-4FEF-8B433377DA53}"/>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383876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6362D-5606-B731-AFE0-0C0B2CE733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1CEA93-4DA8-5431-01F5-6618C5F1BA1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CA270CC-1389-A562-A709-F3C96A5DE22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0F36B37-1D11-4608-4D5D-7DA07A2784DA}"/>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17743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D6088-94B5-12D5-4BD3-1ABD42FBFD9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14B1876-2782-1373-426B-E2DC6C7D25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340B467-CFC6-EC2E-68F8-C1E1F92EA0D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515C71D-ED06-2FEB-71F3-0497A0B98876}"/>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1115824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3.png"/><Relationship Id="rId7"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NULL"/><Relationship Id="rId10" Type="http://schemas.openxmlformats.org/officeDocument/2006/relationships/image" Target="../media/image19.png"/><Relationship Id="rId4" Type="http://schemas.openxmlformats.org/officeDocument/2006/relationships/image" Target="../media/image4.sv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materials, output, results.</a:t>
            </a:r>
          </a:p>
          <a:p>
            <a:pPr marL="342900" indent="-342900" algn="just">
              <a:buFont typeface="Arial" panose="020B0604020202020204" pitchFamily="34" charset="0"/>
              <a:buChar char="•"/>
            </a:pPr>
            <a:r>
              <a:rPr lang="en-US" sz="2000" dirty="0"/>
              <a:t>Explain how to run a simulation for a particular cross-section. </a:t>
            </a:r>
          </a:p>
          <a:p>
            <a:pPr marL="342900" indent="-342900" algn="just">
              <a:buFont typeface="Arial" panose="020B0604020202020204" pitchFamily="34" charset="0"/>
              <a:buChar char="•"/>
            </a:pPr>
            <a:r>
              <a:rPr lang="en-US" sz="2000" dirty="0"/>
              <a:t>Showcase how to change between shallow and deep waveguide.</a:t>
            </a:r>
          </a:p>
          <a:p>
            <a:pPr marL="342900" indent="-342900" algn="just">
              <a:buFont typeface="Arial" panose="020B0604020202020204" pitchFamily="34" charset="0"/>
              <a:buChar char="•"/>
            </a:pPr>
            <a:r>
              <a:rPr lang="en-US" sz="2000" dirty="0"/>
              <a:t>Describe how to change the wavelength and width for the waveguide analysis.</a:t>
            </a:r>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a:t>The differences in the refractive indices of silicon, SiO2, and silicon nitride are significant, but in all cases, the relationship between n and wavelength is nonlinear. I assume that is why they are used for different applications. I can see that for the given parameters, only the fundamental mode's field (and maybe the second mode's) is mostly confined to the core. This is related to their refractive index.</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9935F99-0169-B13E-5295-8D16F4FA5685}"/>
              </a:ext>
            </a:extLst>
          </p:cNvPr>
          <p:cNvSpPr>
            <a:spLocks noGrp="1"/>
          </p:cNvSpPr>
          <p:nvPr>
            <p:ph type="title"/>
          </p:nvPr>
        </p:nvSpPr>
        <p:spPr>
          <a:xfrm>
            <a:off x="590550" y="206752"/>
            <a:ext cx="10991850" cy="615553"/>
          </a:xfrm>
        </p:spPr>
        <p:txBody>
          <a:bodyPr/>
          <a:lstStyle/>
          <a:p>
            <a:r>
              <a:rPr lang="en-US" dirty="0"/>
              <a:t>Learning outcome #1 – Effective index of a waveguide</a:t>
            </a:r>
            <a:br>
              <a:rPr lang="es-ES" spc="-5" dirty="0">
                <a:cs typeface="Lucida Sans"/>
              </a:rPr>
            </a:br>
            <a:endParaRPr lang="pl-PL" dirty="0"/>
          </a:p>
        </p:txBody>
      </p:sp>
      <p:sp>
        <p:nvSpPr>
          <p:cNvPr id="3" name="Symbol zastępczy tekstu 2">
            <a:extLst>
              <a:ext uri="{FF2B5EF4-FFF2-40B4-BE49-F238E27FC236}">
                <a16:creationId xmlns:a16="http://schemas.microsoft.com/office/drawing/2014/main" id="{CCC8F08C-EF08-3831-14A3-02C5C1B84CFE}"/>
              </a:ext>
            </a:extLst>
          </p:cNvPr>
          <p:cNvSpPr>
            <a:spLocks noGrp="1"/>
          </p:cNvSpPr>
          <p:nvPr>
            <p:ph type="body" idx="1"/>
          </p:nvPr>
        </p:nvSpPr>
        <p:spPr/>
        <p:txBody>
          <a:bodyPr/>
          <a:lstStyle/>
          <a:p>
            <a:endParaRPr lang="pl-PL" dirty="0"/>
          </a:p>
        </p:txBody>
      </p:sp>
      <p:sp>
        <p:nvSpPr>
          <p:cNvPr id="4" name="Symbol zastępczy stopki 3">
            <a:extLst>
              <a:ext uri="{FF2B5EF4-FFF2-40B4-BE49-F238E27FC236}">
                <a16:creationId xmlns:a16="http://schemas.microsoft.com/office/drawing/2014/main" id="{4385A64D-CA2B-06C3-3523-17506BFA7458}"/>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Symbol zastępczy numeru slajdu 4">
            <a:extLst>
              <a:ext uri="{FF2B5EF4-FFF2-40B4-BE49-F238E27FC236}">
                <a16:creationId xmlns:a16="http://schemas.microsoft.com/office/drawing/2014/main" id="{D5F31E60-07CD-3C5E-750B-850F3FC9D30C}"/>
              </a:ext>
            </a:extLst>
          </p:cNvPr>
          <p:cNvSpPr>
            <a:spLocks noGrp="1"/>
          </p:cNvSpPr>
          <p:nvPr>
            <p:ph type="sldNum" sz="quarter" idx="7"/>
          </p:nvPr>
        </p:nvSpPr>
        <p:spPr/>
        <p:txBody>
          <a:bodyPr/>
          <a:lstStyle/>
          <a:p>
            <a:fld id="{B6F15528-21DE-4FAA-801E-634DDDAF4B2B}" type="slidenum">
              <a:rPr lang="pl-PL" smtClean="0"/>
              <a:t>4</a:t>
            </a:fld>
            <a:endParaRPr lang="pl-PL"/>
          </a:p>
        </p:txBody>
      </p:sp>
      <p:pic>
        <p:nvPicPr>
          <p:cNvPr id="7" name="Obraz 6" descr="Obraz zawierający tekst, linia, Wykres, diagram&#10;&#10;Zawartość wygenerowana przez AI może być niepoprawna.">
            <a:extLst>
              <a:ext uri="{FF2B5EF4-FFF2-40B4-BE49-F238E27FC236}">
                <a16:creationId xmlns:a16="http://schemas.microsoft.com/office/drawing/2014/main" id="{947FC01B-9307-0FF6-DEDB-E8F193D5200D}"/>
              </a:ext>
            </a:extLst>
          </p:cNvPr>
          <p:cNvPicPr>
            <a:picLocks noChangeAspect="1"/>
          </p:cNvPicPr>
          <p:nvPr/>
        </p:nvPicPr>
        <p:blipFill>
          <a:blip r:embed="rId2"/>
          <a:stretch>
            <a:fillRect/>
          </a:stretch>
        </p:blipFill>
        <p:spPr>
          <a:xfrm>
            <a:off x="228600" y="1472743"/>
            <a:ext cx="5562600" cy="4333875"/>
          </a:xfrm>
          <a:prstGeom prst="rect">
            <a:avLst/>
          </a:prstGeom>
        </p:spPr>
      </p:pic>
      <p:pic>
        <p:nvPicPr>
          <p:cNvPr id="9" name="Obraz 8" descr="Obraz zawierający linia, tekst, Wykres, diagram&#10;&#10;Zawartość wygenerowana przez AI może być niepoprawna.">
            <a:extLst>
              <a:ext uri="{FF2B5EF4-FFF2-40B4-BE49-F238E27FC236}">
                <a16:creationId xmlns:a16="http://schemas.microsoft.com/office/drawing/2014/main" id="{F47826B1-AD28-1097-4C27-F38272D792F7}"/>
              </a:ext>
            </a:extLst>
          </p:cNvPr>
          <p:cNvPicPr>
            <a:picLocks noChangeAspect="1"/>
          </p:cNvPicPr>
          <p:nvPr/>
        </p:nvPicPr>
        <p:blipFill>
          <a:blip r:embed="rId3"/>
          <a:stretch>
            <a:fillRect/>
          </a:stretch>
        </p:blipFill>
        <p:spPr>
          <a:xfrm>
            <a:off x="6086669" y="1699184"/>
            <a:ext cx="5410200" cy="4130761"/>
          </a:xfrm>
          <a:prstGeom prst="rect">
            <a:avLst/>
          </a:prstGeom>
        </p:spPr>
      </p:pic>
    </p:spTree>
    <p:extLst>
      <p:ext uri="{BB962C8B-B14F-4D97-AF65-F5344CB8AC3E}">
        <p14:creationId xmlns:p14="http://schemas.microsoft.com/office/powerpoint/2010/main" val="3480845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97319-837F-35FD-07A1-B3922B0F5E62}"/>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180857C5-7A17-CCBC-ADB9-59A29E24EAE2}"/>
              </a:ext>
            </a:extLst>
          </p:cNvPr>
          <p:cNvSpPr>
            <a:spLocks noGrp="1"/>
          </p:cNvSpPr>
          <p:nvPr>
            <p:ph type="title"/>
          </p:nvPr>
        </p:nvSpPr>
        <p:spPr>
          <a:xfrm>
            <a:off x="590550" y="206752"/>
            <a:ext cx="10991850" cy="615553"/>
          </a:xfrm>
        </p:spPr>
        <p:txBody>
          <a:bodyPr/>
          <a:lstStyle/>
          <a:p>
            <a:r>
              <a:rPr lang="en-US" dirty="0"/>
              <a:t>Learning outcome #1 – Effective index of a waveguide</a:t>
            </a:r>
            <a:br>
              <a:rPr lang="es-ES" spc="-5" dirty="0">
                <a:cs typeface="Lucida Sans"/>
              </a:rPr>
            </a:br>
            <a:endParaRPr lang="pl-PL" dirty="0"/>
          </a:p>
        </p:txBody>
      </p:sp>
      <p:sp>
        <p:nvSpPr>
          <p:cNvPr id="3" name="Symbol zastępczy tekstu 2">
            <a:extLst>
              <a:ext uri="{FF2B5EF4-FFF2-40B4-BE49-F238E27FC236}">
                <a16:creationId xmlns:a16="http://schemas.microsoft.com/office/drawing/2014/main" id="{2496B506-6963-2C5A-B0D9-D4015867D313}"/>
              </a:ext>
            </a:extLst>
          </p:cNvPr>
          <p:cNvSpPr>
            <a:spLocks noGrp="1"/>
          </p:cNvSpPr>
          <p:nvPr>
            <p:ph type="body" idx="1"/>
          </p:nvPr>
        </p:nvSpPr>
        <p:spPr>
          <a:xfrm>
            <a:off x="8153400" y="206751"/>
            <a:ext cx="1295400" cy="307777"/>
          </a:xfrm>
        </p:spPr>
        <p:txBody>
          <a:bodyPr/>
          <a:lstStyle/>
          <a:p>
            <a:r>
              <a:rPr lang="pl-PL" dirty="0" err="1"/>
              <a:t>Parameters</a:t>
            </a:r>
            <a:r>
              <a:rPr lang="pl-PL" dirty="0"/>
              <a:t>:</a:t>
            </a:r>
          </a:p>
        </p:txBody>
      </p:sp>
      <p:sp>
        <p:nvSpPr>
          <p:cNvPr id="4" name="Symbol zastępczy stopki 3">
            <a:extLst>
              <a:ext uri="{FF2B5EF4-FFF2-40B4-BE49-F238E27FC236}">
                <a16:creationId xmlns:a16="http://schemas.microsoft.com/office/drawing/2014/main" id="{059267EE-C966-4838-35E0-D4E53E9BE5F5}"/>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Symbol zastępczy numeru slajdu 4">
            <a:extLst>
              <a:ext uri="{FF2B5EF4-FFF2-40B4-BE49-F238E27FC236}">
                <a16:creationId xmlns:a16="http://schemas.microsoft.com/office/drawing/2014/main" id="{49A59CE1-F8A4-B776-ED5B-78639ACCB3E9}"/>
              </a:ext>
            </a:extLst>
          </p:cNvPr>
          <p:cNvSpPr>
            <a:spLocks noGrp="1"/>
          </p:cNvSpPr>
          <p:nvPr>
            <p:ph type="sldNum" sz="quarter" idx="7"/>
          </p:nvPr>
        </p:nvSpPr>
        <p:spPr/>
        <p:txBody>
          <a:bodyPr/>
          <a:lstStyle/>
          <a:p>
            <a:fld id="{B6F15528-21DE-4FAA-801E-634DDDAF4B2B}" type="slidenum">
              <a:rPr lang="pl-PL" smtClean="0"/>
              <a:t>5</a:t>
            </a:fld>
            <a:endParaRPr lang="pl-PL"/>
          </a:p>
        </p:txBody>
      </p:sp>
      <p:pic>
        <p:nvPicPr>
          <p:cNvPr id="7" name="Obraz 6" descr="Obraz zawierający zrzut ekranu, tekst, Prostokąt, Wielobarwność&#10;&#10;Zawartość wygenerowana przez AI może być niepoprawna.">
            <a:extLst>
              <a:ext uri="{FF2B5EF4-FFF2-40B4-BE49-F238E27FC236}">
                <a16:creationId xmlns:a16="http://schemas.microsoft.com/office/drawing/2014/main" id="{D76FFBB4-D550-8882-0567-DC593F9A5139}"/>
              </a:ext>
            </a:extLst>
          </p:cNvPr>
          <p:cNvPicPr>
            <a:picLocks noChangeAspect="1"/>
          </p:cNvPicPr>
          <p:nvPr/>
        </p:nvPicPr>
        <p:blipFill>
          <a:blip r:embed="rId2"/>
          <a:stretch>
            <a:fillRect/>
          </a:stretch>
        </p:blipFill>
        <p:spPr>
          <a:xfrm>
            <a:off x="216895" y="1102089"/>
            <a:ext cx="5893628" cy="4302605"/>
          </a:xfrm>
          <a:prstGeom prst="rect">
            <a:avLst/>
          </a:prstGeom>
        </p:spPr>
      </p:pic>
      <p:pic>
        <p:nvPicPr>
          <p:cNvPr id="9" name="Obraz 8" descr="Obraz zawierający tekst, zrzut ekranu, Czcionka&#10;&#10;Zawartość wygenerowana przez AI może być niepoprawna.">
            <a:extLst>
              <a:ext uri="{FF2B5EF4-FFF2-40B4-BE49-F238E27FC236}">
                <a16:creationId xmlns:a16="http://schemas.microsoft.com/office/drawing/2014/main" id="{AD458CA9-4399-293D-AF8F-B5008076CA30}"/>
              </a:ext>
            </a:extLst>
          </p:cNvPr>
          <p:cNvPicPr>
            <a:picLocks noChangeAspect="1"/>
          </p:cNvPicPr>
          <p:nvPr/>
        </p:nvPicPr>
        <p:blipFill>
          <a:blip r:embed="rId3"/>
          <a:srcRect r="58162"/>
          <a:stretch>
            <a:fillRect/>
          </a:stretch>
        </p:blipFill>
        <p:spPr>
          <a:xfrm>
            <a:off x="9448800" y="130940"/>
            <a:ext cx="2538746" cy="2455195"/>
          </a:xfrm>
          <a:prstGeom prst="rect">
            <a:avLst/>
          </a:prstGeom>
        </p:spPr>
      </p:pic>
      <p:sp>
        <p:nvSpPr>
          <p:cNvPr id="10" name="Symbol zastępczy tekstu 2">
            <a:extLst>
              <a:ext uri="{FF2B5EF4-FFF2-40B4-BE49-F238E27FC236}">
                <a16:creationId xmlns:a16="http://schemas.microsoft.com/office/drawing/2014/main" id="{3A13F33B-70D8-8C36-E696-E1EA97BE6644}"/>
              </a:ext>
            </a:extLst>
          </p:cNvPr>
          <p:cNvSpPr txBox="1">
            <a:spLocks/>
          </p:cNvSpPr>
          <p:nvPr/>
        </p:nvSpPr>
        <p:spPr>
          <a:xfrm>
            <a:off x="6644640" y="1130081"/>
            <a:ext cx="2804160" cy="1231106"/>
          </a:xfrm>
          <a:prstGeom prst="rect">
            <a:avLst/>
          </a:prstGeom>
        </p:spPr>
        <p:txBody>
          <a:bodyPr wrap="square" lIns="0" tIns="0" rIns="0" bIns="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pl-PL" sz="1600" b="1" kern="0" dirty="0" err="1">
                <a:solidFill>
                  <a:sysClr val="windowText" lastClr="000000"/>
                </a:solidFill>
              </a:rPr>
              <a:t>Effective</a:t>
            </a:r>
            <a:r>
              <a:rPr lang="pl-PL" sz="1600" b="1" kern="0" dirty="0">
                <a:solidFill>
                  <a:sysClr val="windowText" lastClr="000000"/>
                </a:solidFill>
              </a:rPr>
              <a:t> index of </a:t>
            </a:r>
            <a:r>
              <a:rPr lang="pl-PL" sz="1600" b="1" kern="0" dirty="0" err="1">
                <a:solidFill>
                  <a:sysClr val="windowText" lastClr="000000"/>
                </a:solidFill>
              </a:rPr>
              <a:t>each</a:t>
            </a:r>
            <a:r>
              <a:rPr lang="pl-PL" sz="1600" b="1" kern="0" dirty="0">
                <a:solidFill>
                  <a:sysClr val="windowText" lastClr="000000"/>
                </a:solidFill>
              </a:rPr>
              <a:t> </a:t>
            </a:r>
            <a:r>
              <a:rPr lang="pl-PL" sz="1600" b="1" kern="0" dirty="0" err="1">
                <a:solidFill>
                  <a:sysClr val="windowText" lastClr="000000"/>
                </a:solidFill>
              </a:rPr>
              <a:t>mode</a:t>
            </a:r>
            <a:r>
              <a:rPr lang="pl-PL" sz="1600" b="1" kern="0" dirty="0">
                <a:solidFill>
                  <a:sysClr val="windowText" lastClr="000000"/>
                </a:solidFill>
              </a:rPr>
              <a:t>:</a:t>
            </a:r>
          </a:p>
          <a:p>
            <a:r>
              <a:rPr lang="pl-PL" sz="1600" dirty="0"/>
              <a:t>1.60524792+0.00010066j, 1.52829803+0.00017753j, 1.45072999+0.00019228j, 1.43325817+0.00021838j</a:t>
            </a:r>
            <a:endParaRPr lang="pl-PL" sz="1600" kern="0" dirty="0">
              <a:solidFill>
                <a:sysClr val="windowText" lastClr="000000"/>
              </a:solidFill>
            </a:endParaRPr>
          </a:p>
        </p:txBody>
      </p:sp>
      <p:sp>
        <p:nvSpPr>
          <p:cNvPr id="11" name="pole tekstowe 10">
            <a:extLst>
              <a:ext uri="{FF2B5EF4-FFF2-40B4-BE49-F238E27FC236}">
                <a16:creationId xmlns:a16="http://schemas.microsoft.com/office/drawing/2014/main" id="{B4FB819E-57DC-F9B1-213D-9DE0E977B71C}"/>
              </a:ext>
            </a:extLst>
          </p:cNvPr>
          <p:cNvSpPr txBox="1"/>
          <p:nvPr/>
        </p:nvSpPr>
        <p:spPr>
          <a:xfrm>
            <a:off x="6438113" y="2893911"/>
            <a:ext cx="4725974" cy="646331"/>
          </a:xfrm>
          <a:prstGeom prst="rect">
            <a:avLst/>
          </a:prstGeom>
          <a:noFill/>
        </p:spPr>
        <p:txBody>
          <a:bodyPr wrap="none" rtlCol="0">
            <a:spAutoFit/>
          </a:bodyPr>
          <a:lstStyle/>
          <a:p>
            <a:r>
              <a:rPr lang="pl-PL" b="1" dirty="0" err="1"/>
              <a:t>Fraction_te</a:t>
            </a:r>
            <a:r>
              <a:rPr lang="pl-PL" b="1" dirty="0"/>
              <a:t> for </a:t>
            </a:r>
            <a:r>
              <a:rPr lang="pl-PL" b="1" dirty="0" err="1"/>
              <a:t>each</a:t>
            </a:r>
            <a:r>
              <a:rPr lang="pl-PL" b="1" dirty="0"/>
              <a:t> </a:t>
            </a:r>
            <a:r>
              <a:rPr lang="pl-PL" b="1" dirty="0" err="1"/>
              <a:t>mode</a:t>
            </a:r>
            <a:r>
              <a:rPr lang="pl-PL" b="1" dirty="0"/>
              <a:t>:</a:t>
            </a:r>
          </a:p>
          <a:p>
            <a:r>
              <a:rPr lang="pl-PL" dirty="0"/>
              <a:t>0.99505426, 0.01004259, 0.96264794, 0.047651</a:t>
            </a:r>
            <a:endParaRPr lang="pl-PL" b="1" dirty="0"/>
          </a:p>
        </p:txBody>
      </p:sp>
      <p:sp>
        <p:nvSpPr>
          <p:cNvPr id="12" name="pole tekstowe 11">
            <a:extLst>
              <a:ext uri="{FF2B5EF4-FFF2-40B4-BE49-F238E27FC236}">
                <a16:creationId xmlns:a16="http://schemas.microsoft.com/office/drawing/2014/main" id="{3A3A0030-847A-8DFC-0DDA-6A9D1F9FC664}"/>
              </a:ext>
            </a:extLst>
          </p:cNvPr>
          <p:cNvSpPr txBox="1"/>
          <p:nvPr/>
        </p:nvSpPr>
        <p:spPr>
          <a:xfrm>
            <a:off x="6410121" y="3660003"/>
            <a:ext cx="4725974" cy="646331"/>
          </a:xfrm>
          <a:prstGeom prst="rect">
            <a:avLst/>
          </a:prstGeom>
          <a:noFill/>
        </p:spPr>
        <p:txBody>
          <a:bodyPr wrap="none" rtlCol="0">
            <a:spAutoFit/>
          </a:bodyPr>
          <a:lstStyle/>
          <a:p>
            <a:r>
              <a:rPr lang="pl-PL" b="1" dirty="0" err="1"/>
              <a:t>Fraction_tm</a:t>
            </a:r>
            <a:r>
              <a:rPr lang="pl-PL" b="1" dirty="0"/>
              <a:t> for </a:t>
            </a:r>
            <a:r>
              <a:rPr lang="pl-PL" b="1" dirty="0" err="1"/>
              <a:t>each</a:t>
            </a:r>
            <a:r>
              <a:rPr lang="pl-PL" b="1" dirty="0"/>
              <a:t> </a:t>
            </a:r>
            <a:r>
              <a:rPr lang="pl-PL" b="1" dirty="0" err="1"/>
              <a:t>mode</a:t>
            </a:r>
            <a:r>
              <a:rPr lang="pl-PL" b="1" dirty="0"/>
              <a:t>:</a:t>
            </a:r>
          </a:p>
          <a:p>
            <a:r>
              <a:rPr lang="pl-PL" dirty="0"/>
              <a:t>0.00494574, 0.98995741, 0.03735206, 0.952349</a:t>
            </a:r>
            <a:endParaRPr lang="pl-PL" b="1" dirty="0"/>
          </a:p>
        </p:txBody>
      </p:sp>
    </p:spTree>
    <p:extLst>
      <p:ext uri="{BB962C8B-B14F-4D97-AF65-F5344CB8AC3E}">
        <p14:creationId xmlns:p14="http://schemas.microsoft.com/office/powerpoint/2010/main" val="3802984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73097-A87F-1EE7-B166-BEB04BF4AD31}"/>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FB707D17-E6BF-2443-EFD5-CA7C71CD59E1}"/>
              </a:ext>
            </a:extLst>
          </p:cNvPr>
          <p:cNvSpPr>
            <a:spLocks noGrp="1"/>
          </p:cNvSpPr>
          <p:nvPr>
            <p:ph type="title"/>
          </p:nvPr>
        </p:nvSpPr>
        <p:spPr>
          <a:xfrm>
            <a:off x="590550" y="206752"/>
            <a:ext cx="10991850" cy="615553"/>
          </a:xfrm>
        </p:spPr>
        <p:txBody>
          <a:bodyPr/>
          <a:lstStyle/>
          <a:p>
            <a:r>
              <a:rPr lang="en-US" dirty="0"/>
              <a:t>Learning outcome #1 – Effective index of a waveguide</a:t>
            </a:r>
            <a:br>
              <a:rPr lang="es-ES" spc="-5" dirty="0">
                <a:cs typeface="Lucida Sans"/>
              </a:rPr>
            </a:br>
            <a:endParaRPr lang="pl-PL" dirty="0"/>
          </a:p>
        </p:txBody>
      </p:sp>
      <p:sp>
        <p:nvSpPr>
          <p:cNvPr id="3" name="Symbol zastępczy tekstu 2">
            <a:extLst>
              <a:ext uri="{FF2B5EF4-FFF2-40B4-BE49-F238E27FC236}">
                <a16:creationId xmlns:a16="http://schemas.microsoft.com/office/drawing/2014/main" id="{0B91FD2D-4F5E-CDA6-DFBB-32E6449BD1D7}"/>
              </a:ext>
            </a:extLst>
          </p:cNvPr>
          <p:cNvSpPr>
            <a:spLocks noGrp="1"/>
          </p:cNvSpPr>
          <p:nvPr>
            <p:ph type="body" idx="1"/>
          </p:nvPr>
        </p:nvSpPr>
        <p:spPr/>
        <p:txBody>
          <a:bodyPr/>
          <a:lstStyle/>
          <a:p>
            <a:endParaRPr lang="pl-PL" dirty="0"/>
          </a:p>
        </p:txBody>
      </p:sp>
      <p:sp>
        <p:nvSpPr>
          <p:cNvPr id="4" name="Symbol zastępczy stopki 3">
            <a:extLst>
              <a:ext uri="{FF2B5EF4-FFF2-40B4-BE49-F238E27FC236}">
                <a16:creationId xmlns:a16="http://schemas.microsoft.com/office/drawing/2014/main" id="{A0179525-3341-2A88-F9FB-AF5C4C8A7B0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Symbol zastępczy numeru slajdu 4">
            <a:extLst>
              <a:ext uri="{FF2B5EF4-FFF2-40B4-BE49-F238E27FC236}">
                <a16:creationId xmlns:a16="http://schemas.microsoft.com/office/drawing/2014/main" id="{2D90F095-9314-AB0E-2320-4003D34BD813}"/>
              </a:ext>
            </a:extLst>
          </p:cNvPr>
          <p:cNvSpPr>
            <a:spLocks noGrp="1"/>
          </p:cNvSpPr>
          <p:nvPr>
            <p:ph type="sldNum" sz="quarter" idx="7"/>
          </p:nvPr>
        </p:nvSpPr>
        <p:spPr/>
        <p:txBody>
          <a:bodyPr/>
          <a:lstStyle/>
          <a:p>
            <a:fld id="{B6F15528-21DE-4FAA-801E-634DDDAF4B2B}" type="slidenum">
              <a:rPr lang="pl-PL" smtClean="0"/>
              <a:t>6</a:t>
            </a:fld>
            <a:endParaRPr lang="pl-PL"/>
          </a:p>
        </p:txBody>
      </p:sp>
      <p:pic>
        <p:nvPicPr>
          <p:cNvPr id="7" name="Obraz 6" descr="Obraz zawierający tekst, zrzut ekranu, Wielobarwność&#10;&#10;Zawartość wygenerowana przez AI może być niepoprawna.">
            <a:extLst>
              <a:ext uri="{FF2B5EF4-FFF2-40B4-BE49-F238E27FC236}">
                <a16:creationId xmlns:a16="http://schemas.microsoft.com/office/drawing/2014/main" id="{81C2F357-568A-EDA0-15BA-5DCEC917CDC9}"/>
              </a:ext>
            </a:extLst>
          </p:cNvPr>
          <p:cNvPicPr>
            <a:picLocks noChangeAspect="1"/>
          </p:cNvPicPr>
          <p:nvPr/>
        </p:nvPicPr>
        <p:blipFill>
          <a:blip r:embed="rId2"/>
          <a:stretch>
            <a:fillRect/>
          </a:stretch>
        </p:blipFill>
        <p:spPr>
          <a:xfrm>
            <a:off x="7086600" y="701665"/>
            <a:ext cx="4306705" cy="2898457"/>
          </a:xfrm>
          <a:prstGeom prst="rect">
            <a:avLst/>
          </a:prstGeom>
        </p:spPr>
      </p:pic>
      <p:pic>
        <p:nvPicPr>
          <p:cNvPr id="9" name="Obraz 8" descr="Obraz zawierający tekst, zrzut ekranu&#10;&#10;Zawartość wygenerowana przez AI może być niepoprawna.">
            <a:extLst>
              <a:ext uri="{FF2B5EF4-FFF2-40B4-BE49-F238E27FC236}">
                <a16:creationId xmlns:a16="http://schemas.microsoft.com/office/drawing/2014/main" id="{7EA22F89-AEAB-4426-505F-75A3303BFA76}"/>
              </a:ext>
            </a:extLst>
          </p:cNvPr>
          <p:cNvPicPr>
            <a:picLocks noChangeAspect="1"/>
          </p:cNvPicPr>
          <p:nvPr/>
        </p:nvPicPr>
        <p:blipFill>
          <a:blip r:embed="rId3"/>
          <a:stretch>
            <a:fillRect/>
          </a:stretch>
        </p:blipFill>
        <p:spPr>
          <a:xfrm>
            <a:off x="804915" y="822305"/>
            <a:ext cx="3881438" cy="2612248"/>
          </a:xfrm>
          <a:prstGeom prst="rect">
            <a:avLst/>
          </a:prstGeom>
        </p:spPr>
      </p:pic>
      <p:pic>
        <p:nvPicPr>
          <p:cNvPr id="11" name="Obraz 10" descr="Obraz zawierający tekst, zrzut ekranu, diagram&#10;&#10;Zawartość wygenerowana przez AI może być niepoprawna.">
            <a:extLst>
              <a:ext uri="{FF2B5EF4-FFF2-40B4-BE49-F238E27FC236}">
                <a16:creationId xmlns:a16="http://schemas.microsoft.com/office/drawing/2014/main" id="{77FC9F59-6760-C969-4114-AD166C894742}"/>
              </a:ext>
            </a:extLst>
          </p:cNvPr>
          <p:cNvPicPr>
            <a:picLocks noChangeAspect="1"/>
          </p:cNvPicPr>
          <p:nvPr/>
        </p:nvPicPr>
        <p:blipFill>
          <a:blip r:embed="rId4"/>
          <a:stretch>
            <a:fillRect/>
          </a:stretch>
        </p:blipFill>
        <p:spPr>
          <a:xfrm>
            <a:off x="995363" y="3937643"/>
            <a:ext cx="3881438" cy="2611747"/>
          </a:xfrm>
          <a:prstGeom prst="rect">
            <a:avLst/>
          </a:prstGeom>
        </p:spPr>
      </p:pic>
      <p:pic>
        <p:nvPicPr>
          <p:cNvPr id="13" name="Obraz 12" descr="Obraz zawierający tekst, zrzut ekranu, wyświetlacz, Prostokąt&#10;&#10;Zawartość wygenerowana przez AI może być niepoprawna.">
            <a:extLst>
              <a:ext uri="{FF2B5EF4-FFF2-40B4-BE49-F238E27FC236}">
                <a16:creationId xmlns:a16="http://schemas.microsoft.com/office/drawing/2014/main" id="{F4341FDF-44ED-8F77-0403-0A7D462E9541}"/>
              </a:ext>
            </a:extLst>
          </p:cNvPr>
          <p:cNvPicPr>
            <a:picLocks noChangeAspect="1"/>
          </p:cNvPicPr>
          <p:nvPr/>
        </p:nvPicPr>
        <p:blipFill>
          <a:blip r:embed="rId5"/>
          <a:stretch>
            <a:fillRect/>
          </a:stretch>
        </p:blipFill>
        <p:spPr>
          <a:xfrm>
            <a:off x="7086600" y="3820881"/>
            <a:ext cx="4219524" cy="2782025"/>
          </a:xfrm>
          <a:prstGeom prst="rect">
            <a:avLst/>
          </a:prstGeom>
        </p:spPr>
      </p:pic>
    </p:spTree>
    <p:extLst>
      <p:ext uri="{BB962C8B-B14F-4D97-AF65-F5344CB8AC3E}">
        <p14:creationId xmlns:p14="http://schemas.microsoft.com/office/powerpoint/2010/main" val="3146300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461665"/>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The effective refractive index (neff) is higher in shallow waveguides than in deep waveguides, and this effect becomes more pronounced as the mode number increases. Furthermore, the decrease in neff with increasing wavelength is similar for both types of waveguides.</a:t>
            </a:r>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n-US" b="1" dirty="0"/>
              <a:t>shallow</a:t>
            </a:r>
            <a:r>
              <a:rPr lang="en-US" dirty="0"/>
              <a:t> waveguide</a:t>
            </a:r>
          </a:p>
          <a:p>
            <a:pPr algn="ctr"/>
            <a:endParaRPr lang="en-US" dirty="0"/>
          </a:p>
          <a:p>
            <a:pPr algn="ctr"/>
            <a:r>
              <a:rPr lang="en-US" dirty="0"/>
              <a:t>Paste plot here</a:t>
            </a:r>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n-US" b="1" dirty="0"/>
              <a:t>deep</a:t>
            </a:r>
            <a:r>
              <a:rPr lang="en-US" dirty="0"/>
              <a:t> waveguide</a:t>
            </a:r>
          </a:p>
          <a:p>
            <a:pPr algn="ctr"/>
            <a:endParaRPr lang="en-US" dirty="0"/>
          </a:p>
          <a:p>
            <a:pPr algn="ctr"/>
            <a:r>
              <a:rPr lang="en-US" dirty="0"/>
              <a:t>Paste plot here</a:t>
            </a:r>
          </a:p>
        </p:txBody>
      </p:sp>
      <p:sp>
        <p:nvSpPr>
          <p:cNvPr id="9" name="CuadroTexto 8">
            <a:extLst>
              <a:ext uri="{FF2B5EF4-FFF2-40B4-BE49-F238E27FC236}">
                <a16:creationId xmlns:a16="http://schemas.microsoft.com/office/drawing/2014/main" id="{8BD4C233-B5D9-B6AA-93A8-CF2F130CFF9C}"/>
              </a:ext>
            </a:extLst>
          </p:cNvPr>
          <p:cNvSpPr txBox="1"/>
          <p:nvPr/>
        </p:nvSpPr>
        <p:spPr>
          <a:xfrm>
            <a:off x="642989" y="4402885"/>
            <a:ext cx="2269787" cy="369332"/>
          </a:xfrm>
          <a:prstGeom prst="rect">
            <a:avLst/>
          </a:prstGeom>
          <a:noFill/>
        </p:spPr>
        <p:txBody>
          <a:bodyPr wrap="square">
            <a:spAutoFit/>
          </a:bodyPr>
          <a:lstStyle/>
          <a:p>
            <a:r>
              <a:rPr lang="en-US"/>
              <a:t>slab </a:t>
            </a:r>
            <a:r>
              <a:rPr lang="en-US" dirty="0"/>
              <a:t>= 150nm</a:t>
            </a:r>
            <a:endParaRPr lang="es-ES" dirty="0"/>
          </a:p>
        </p:txBody>
      </p:sp>
      <p:pic>
        <p:nvPicPr>
          <p:cNvPr id="10" name="Obraz 9" descr="Obraz zawierający tekst, zrzut ekranu, linia, numer&#10;&#10;Zawartość wygenerowana przez AI może być niepoprawna.">
            <a:extLst>
              <a:ext uri="{FF2B5EF4-FFF2-40B4-BE49-F238E27FC236}">
                <a16:creationId xmlns:a16="http://schemas.microsoft.com/office/drawing/2014/main" id="{FDA7FA0C-69DE-A996-3A62-0A5EC95ABB1C}"/>
              </a:ext>
            </a:extLst>
          </p:cNvPr>
          <p:cNvPicPr>
            <a:picLocks noChangeAspect="1"/>
          </p:cNvPicPr>
          <p:nvPr/>
        </p:nvPicPr>
        <p:blipFill>
          <a:blip r:embed="rId5"/>
          <a:stretch>
            <a:fillRect/>
          </a:stretch>
        </p:blipFill>
        <p:spPr>
          <a:xfrm>
            <a:off x="6578002" y="1572295"/>
            <a:ext cx="5130248" cy="2992645"/>
          </a:xfrm>
          <a:prstGeom prst="rect">
            <a:avLst/>
          </a:prstGeom>
        </p:spPr>
      </p:pic>
      <p:pic>
        <p:nvPicPr>
          <p:cNvPr id="12" name="Obraz 11" descr="Obraz zawierający tekst, zrzut ekranu, linia, Wykres&#10;&#10;Zawartość wygenerowana przez AI może być niepoprawna.">
            <a:extLst>
              <a:ext uri="{FF2B5EF4-FFF2-40B4-BE49-F238E27FC236}">
                <a16:creationId xmlns:a16="http://schemas.microsoft.com/office/drawing/2014/main" id="{F7F105B8-25BF-0FCC-6069-1C7242C05D38}"/>
              </a:ext>
            </a:extLst>
          </p:cNvPr>
          <p:cNvPicPr>
            <a:picLocks noChangeAspect="1"/>
          </p:cNvPicPr>
          <p:nvPr/>
        </p:nvPicPr>
        <p:blipFill>
          <a:blip r:embed="rId6"/>
          <a:stretch>
            <a:fillRect/>
          </a:stretch>
        </p:blipFill>
        <p:spPr>
          <a:xfrm>
            <a:off x="845531" y="1582143"/>
            <a:ext cx="5014538" cy="2925147"/>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461665"/>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As the waveguide width increases, the phase velocity of modes 1 and 2 decreases (corresponding to an increase in neff), whereas modes 2 and 3 exhibit an increase in velocity (a decrease in neff).</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plot here</a:t>
            </a:r>
          </a:p>
        </p:txBody>
      </p:sp>
      <p:pic>
        <p:nvPicPr>
          <p:cNvPr id="5" name="Obraz 4" descr="Obraz zawierający tekst, linia, zrzut ekranu, Wykres&#10;&#10;Zawartość wygenerowana przez AI może być niepoprawna.">
            <a:extLst>
              <a:ext uri="{FF2B5EF4-FFF2-40B4-BE49-F238E27FC236}">
                <a16:creationId xmlns:a16="http://schemas.microsoft.com/office/drawing/2014/main" id="{A71F0B19-9471-E482-6195-434AB47EA55E}"/>
              </a:ext>
            </a:extLst>
          </p:cNvPr>
          <p:cNvPicPr>
            <a:picLocks noChangeAspect="1"/>
          </p:cNvPicPr>
          <p:nvPr/>
        </p:nvPicPr>
        <p:blipFill>
          <a:blip r:embed="rId5"/>
          <a:stretch>
            <a:fillRect/>
          </a:stretch>
        </p:blipFill>
        <p:spPr>
          <a:xfrm>
            <a:off x="3505200" y="1474453"/>
            <a:ext cx="5334000" cy="3105150"/>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36191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Find the second-degree polynomial coefficients and relate them with the group index and the dispersion parameter. </a:t>
                </a:r>
                <a14:m>
                  <m:oMath xmlns:m="http://schemas.openxmlformats.org/officeDocument/2006/math">
                    <m:d>
                      <m:dPr>
                        <m:begChr m:val="{"/>
                        <m:endChr m:val=""/>
                        <m:ctrlPr>
                          <a:rPr lang="es-ES" sz="1200" b="0" i="1" smtClean="0">
                            <a:latin typeface="Cambria Math" panose="02040503050406030204" pitchFamily="18" charset="0"/>
                            <a:cs typeface="Arial" panose="020B0604020202020204" pitchFamily="34" charset="0"/>
                          </a:rPr>
                        </m:ctrlPr>
                      </m:dPr>
                      <m:e>
                        <m:eqArr>
                          <m:eqArrPr>
                            <m:ctrlPr>
                              <a:rPr lang="es-ES" sz="1200" b="0" i="1" smtClean="0">
                                <a:latin typeface="Cambria Math" panose="02040503050406030204" pitchFamily="18" charset="0"/>
                                <a:cs typeface="Arial" panose="020B0604020202020204" pitchFamily="34" charset="0"/>
                              </a:rPr>
                            </m:ctrlPr>
                          </m:eqArrPr>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𝑒𝑓𝑓</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e>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2</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e>
                          <m:e>
                            <m:r>
                              <a:rPr lang="es-ES" sz="1200" b="0" i="1" smtClean="0">
                                <a:latin typeface="Cambria Math" panose="02040503050406030204" pitchFamily="18" charset="0"/>
                                <a:cs typeface="Arial" panose="020B0604020202020204" pitchFamily="34" charset="0"/>
                              </a:rPr>
                              <m:t>𝐷</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3</m:t>
                                    </m:r>
                                  </m:sub>
                                </m:sSub>
                              </m:num>
                              <m:den>
                                <m:r>
                                  <a:rPr lang="es-ES" sz="1200" b="0" i="1" smtClean="0">
                                    <a:latin typeface="Cambria Math" panose="02040503050406030204" pitchFamily="18" charset="0"/>
                                    <a:cs typeface="Arial" panose="020B0604020202020204" pitchFamily="34" charset="0"/>
                                  </a:rPr>
                                  <m:t>𝑐</m:t>
                                </m:r>
                              </m:den>
                            </m:f>
                            <m:d>
                              <m:dPr>
                                <m:begChr m:val="["/>
                                <m:endChr m:val="]"/>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𝑠</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𝑚</m:t>
                                    </m:r>
                                  </m:den>
                                </m:f>
                              </m:e>
                            </m:d>
                          </m:e>
                        </m:eqArr>
                      </m:e>
                    </m:d>
                  </m:oMath>
                </a14:m>
                <a:endParaRPr lang="es-ES" sz="1200" b="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Comment on the results found for the TE0 and TM0 for both deep and shallow waveguides. </a:t>
                </a: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609441" y="4860334"/>
                <a:ext cx="11198542" cy="1361911"/>
              </a:xfrm>
              <a:prstGeom prst="rect">
                <a:avLst/>
              </a:prstGeom>
              <a:blipFill>
                <a:blip r:embed="rId6"/>
                <a:stretch>
                  <a:fillRect/>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59B6428-4395-242F-54D8-A9FC610F2D7A}"/>
                  </a:ext>
                </a:extLst>
              </p:cNvPr>
              <p:cNvSpPr txBox="1"/>
              <p:nvPr/>
            </p:nvSpPr>
            <p:spPr>
              <a:xfrm>
                <a:off x="609440" y="2709096"/>
                <a:ext cx="5486559" cy="1200329"/>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b="1" dirty="0"/>
                  <a:t>neff_TE0 vs </a:t>
                </a:r>
                <a14:m>
                  <m:oMath xmlns:m="http://schemas.openxmlformats.org/officeDocument/2006/math">
                    <m:r>
                      <a:rPr lang="es-ES" b="1" i="1" smtClean="0">
                        <a:latin typeface="Cambria Math" panose="02040503050406030204" pitchFamily="18" charset="0"/>
                      </a:rPr>
                      <m:t>𝝀</m:t>
                    </m:r>
                  </m:oMath>
                </a14:m>
                <a:r>
                  <a:rPr lang="en-US" b="1" dirty="0"/>
                  <a:t> </a:t>
                </a:r>
                <a:r>
                  <a:rPr lang="en-US" dirty="0"/>
                  <a:t>with the second-degree polynomial fit  </a:t>
                </a:r>
              </a:p>
              <a:p>
                <a:pPr algn="ctr"/>
                <a:r>
                  <a:rPr lang="en-US" dirty="0"/>
                  <a:t>&amp; </a:t>
                </a:r>
                <a:r>
                  <a:rPr lang="en-US" b="1" dirty="0"/>
                  <a:t>neff_TM0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p:txBody>
          </p:sp>
        </mc:Choice>
        <mc:Fallback xmlns="">
          <p:sp>
            <p:nvSpPr>
              <p:cNvPr id="9" name="CuadroTexto 8">
                <a:extLst>
                  <a:ext uri="{FF2B5EF4-FFF2-40B4-BE49-F238E27FC236}">
                    <a16:creationId xmlns:a16="http://schemas.microsoft.com/office/drawing/2014/main" id="{C59B6428-4395-242F-54D8-A9FC610F2D7A}"/>
                  </a:ext>
                </a:extLst>
              </p:cNvPr>
              <p:cNvSpPr txBox="1">
                <a:spLocks noRot="1" noChangeAspect="1" noMove="1" noResize="1" noEditPoints="1" noAdjustHandles="1" noChangeArrowheads="1" noChangeShapeType="1" noTextEdit="1"/>
              </p:cNvSpPr>
              <p:nvPr/>
            </p:nvSpPr>
            <p:spPr>
              <a:xfrm>
                <a:off x="609440" y="2709096"/>
                <a:ext cx="5486559" cy="1200329"/>
              </a:xfrm>
              <a:prstGeom prst="rect">
                <a:avLst/>
              </a:prstGeom>
              <a:blipFill>
                <a:blip r:embed="rId7"/>
                <a:stretch>
                  <a:fillRect t="-2538" r="-556" b="-710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320AF78-1FC6-19F4-8E0B-8A414F20C6DE}"/>
                  </a:ext>
                </a:extLst>
              </p:cNvPr>
              <p:cNvSpPr txBox="1"/>
              <p:nvPr/>
            </p:nvSpPr>
            <p:spPr>
              <a:xfrm>
                <a:off x="6321421" y="2709096"/>
                <a:ext cx="5486559"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b="1" dirty="0"/>
                  <a:t>neff_TE0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a:p>
                <a:pPr algn="ctr"/>
                <a:r>
                  <a:rPr lang="en-US" dirty="0"/>
                  <a:t>&amp; </a:t>
                </a:r>
                <a:r>
                  <a:rPr lang="en-US" b="1" dirty="0"/>
                  <a:t>neff_TM0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p:txBody>
          </p:sp>
        </mc:Choice>
        <mc:Fallback xmlns="">
          <p:sp>
            <p:nvSpPr>
              <p:cNvPr id="10" name="CuadroTexto 9">
                <a:extLst>
                  <a:ext uri="{FF2B5EF4-FFF2-40B4-BE49-F238E27FC236}">
                    <a16:creationId xmlns:a16="http://schemas.microsoft.com/office/drawing/2014/main" id="{9320AF78-1FC6-19F4-8E0B-8A414F20C6DE}"/>
                  </a:ext>
                </a:extLst>
              </p:cNvPr>
              <p:cNvSpPr txBox="1">
                <a:spLocks noRot="1" noChangeAspect="1" noMove="1" noResize="1" noEditPoints="1" noAdjustHandles="1" noChangeArrowheads="1" noChangeShapeType="1" noTextEdit="1"/>
              </p:cNvSpPr>
              <p:nvPr/>
            </p:nvSpPr>
            <p:spPr>
              <a:xfrm>
                <a:off x="6321421" y="2709096"/>
                <a:ext cx="5486559" cy="1200329"/>
              </a:xfrm>
              <a:prstGeom prst="rect">
                <a:avLst/>
              </a:prstGeom>
              <a:blipFill>
                <a:blip r:embed="rId8"/>
                <a:stretch>
                  <a:fillRect t="-2538" r="-556" b="-7107"/>
                </a:stretch>
              </a:blipFill>
            </p:spPr>
            <p:txBody>
              <a:bodyPr/>
              <a:lstStyle/>
              <a:p>
                <a:r>
                  <a:rPr lang="es-ES">
                    <a:noFill/>
                  </a:rPr>
                  <a:t> </a:t>
                </a:r>
              </a:p>
            </p:txBody>
          </p:sp>
        </mc:Fallback>
      </mc:AlternateContent>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5486560" cy="276999"/>
          </a:xfrm>
          <a:prstGeom prst="rect">
            <a:avLst/>
          </a:prstGeom>
          <a:noFill/>
        </p:spPr>
        <p:txBody>
          <a:bodyPr wrap="square">
            <a:spAutoFit/>
          </a:bodyPr>
          <a:lstStyle/>
          <a:p>
            <a:pPr algn="r"/>
            <a:r>
              <a:rPr lang="en-US" sz="1200" b="1" dirty="0">
                <a:solidFill>
                  <a:schemeClr val="tx1"/>
                </a:solidFill>
                <a:latin typeface="Arial" panose="020B0604020202020204" pitchFamily="34" charset="0"/>
                <a:cs typeface="Arial" panose="020B0604020202020204" pitchFamily="34" charset="0"/>
              </a:rPr>
              <a:t>slab: 150nm</a:t>
            </a:r>
            <a:endParaRPr lang="en-US" sz="1200" dirty="0">
              <a:solidFill>
                <a:schemeClr val="tx1"/>
              </a:solidFill>
              <a:latin typeface="Arial" panose="020B0604020202020204" pitchFamily="34" charset="0"/>
              <a:cs typeface="Arial" panose="020B0604020202020204" pitchFamily="34" charset="0"/>
            </a:endParaRPr>
          </a:p>
        </p:txBody>
      </p:sp>
      <p:pic>
        <p:nvPicPr>
          <p:cNvPr id="7" name="Obraz 6" descr="Obraz zawierający tekst, zrzut ekranu, linia, Wykres&#10;&#10;Zawartość wygenerowana przez AI może być niepoprawna.">
            <a:extLst>
              <a:ext uri="{FF2B5EF4-FFF2-40B4-BE49-F238E27FC236}">
                <a16:creationId xmlns:a16="http://schemas.microsoft.com/office/drawing/2014/main" id="{3CCD0170-342F-CD30-8E95-DFC24F53AC0D}"/>
              </a:ext>
            </a:extLst>
          </p:cNvPr>
          <p:cNvPicPr>
            <a:picLocks noChangeAspect="1"/>
          </p:cNvPicPr>
          <p:nvPr/>
        </p:nvPicPr>
        <p:blipFill>
          <a:blip r:embed="rId9"/>
          <a:stretch>
            <a:fillRect/>
          </a:stretch>
        </p:blipFill>
        <p:spPr>
          <a:xfrm>
            <a:off x="1610638" y="1568334"/>
            <a:ext cx="3962481" cy="3130085"/>
          </a:xfrm>
          <a:prstGeom prst="rect">
            <a:avLst/>
          </a:prstGeom>
        </p:spPr>
      </p:pic>
      <p:pic>
        <p:nvPicPr>
          <p:cNvPr id="12" name="Obraz 11" descr="Obraz zawierający tekst, zrzut ekranu, linia, Wykres&#10;&#10;Zawartość wygenerowana przez AI może być niepoprawna.">
            <a:extLst>
              <a:ext uri="{FF2B5EF4-FFF2-40B4-BE49-F238E27FC236}">
                <a16:creationId xmlns:a16="http://schemas.microsoft.com/office/drawing/2014/main" id="{B70E58DA-8313-6B31-E910-EE3F31DD53F8}"/>
              </a:ext>
            </a:extLst>
          </p:cNvPr>
          <p:cNvPicPr>
            <a:picLocks noChangeAspect="1"/>
          </p:cNvPicPr>
          <p:nvPr/>
        </p:nvPicPr>
        <p:blipFill>
          <a:blip r:embed="rId10"/>
          <a:stretch>
            <a:fillRect/>
          </a:stretch>
        </p:blipFill>
        <p:spPr>
          <a:xfrm>
            <a:off x="7147541" y="1555694"/>
            <a:ext cx="3886200" cy="3069828"/>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0567A-6CA0-F9EA-9FC6-9ADD01194FF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0B3078F-ADA7-C670-22D2-349069893EE9}"/>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3934FE90-337A-F95C-7004-62CE9F4501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2134FA0-0E17-8A83-A38F-D70F3CF1F30B}"/>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408B7699-DA72-67F7-1E90-6303B265DE16}"/>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3EF0C2B3-03C3-269A-1A58-36D448CEB4F4}"/>
              </a:ext>
            </a:extLst>
          </p:cNvPr>
          <p:cNvSpPr txBox="1"/>
          <p:nvPr/>
        </p:nvSpPr>
        <p:spPr>
          <a:xfrm>
            <a:off x="685800" y="1697757"/>
            <a:ext cx="11198542" cy="452431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second-degree polynomial coefficients</a:t>
            </a:r>
            <a:r>
              <a:rPr lang="pl-PL" sz="1200" dirty="0">
                <a:latin typeface="Arial" panose="020B0604020202020204" pitchFamily="34" charset="0"/>
                <a:cs typeface="Arial" panose="020B0604020202020204" pitchFamily="34" charset="0"/>
              </a:rPr>
              <a:t> for </a:t>
            </a:r>
            <a:r>
              <a:rPr lang="pl-PL" sz="1200" dirty="0" err="1">
                <a:latin typeface="Arial" panose="020B0604020202020204" pitchFamily="34" charset="0"/>
                <a:cs typeface="Arial" panose="020B0604020202020204" pitchFamily="34" charset="0"/>
              </a:rPr>
              <a:t>short</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waveguide</a:t>
            </a:r>
            <a:r>
              <a:rPr lang="pl-PL" sz="1200" dirty="0">
                <a:latin typeface="Arial" panose="020B0604020202020204" pitchFamily="34" charset="0"/>
                <a:cs typeface="Arial" panose="020B0604020202020204" pitchFamily="34" charset="0"/>
              </a:rPr>
              <a:t>, D: </a:t>
            </a:r>
          </a:p>
          <a:p>
            <a:pPr algn="just"/>
            <a:endParaRPr lang="pl-PL" sz="1200" dirty="0">
              <a:latin typeface="Arial" panose="020B0604020202020204" pitchFamily="34" charset="0"/>
              <a:cs typeface="Arial" panose="020B0604020202020204" pitchFamily="34" charset="0"/>
            </a:endParaRPr>
          </a:p>
          <a:p>
            <a:pPr algn="just"/>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Quadratic</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fit</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coefficients</a:t>
            </a:r>
            <a:r>
              <a:rPr lang="pl-PL" sz="1200" dirty="0">
                <a:latin typeface="Arial" panose="020B0604020202020204" pitchFamily="34" charset="0"/>
                <a:cs typeface="Arial" panose="020B0604020202020204" pitchFamily="34" charset="0"/>
              </a:rPr>
              <a:t> (mod1): [ 0.0956958  -0.18817489  1.62409063]</a:t>
            </a:r>
          </a:p>
          <a:p>
            <a:pPr lvl="2" algn="just"/>
            <a:r>
              <a:rPr lang="pl-PL" sz="1200" dirty="0" err="1">
                <a:latin typeface="Arial" panose="020B0604020202020204" pitchFamily="34" charset="0"/>
                <a:cs typeface="Arial" panose="020B0604020202020204" pitchFamily="34" charset="0"/>
              </a:rPr>
              <a:t>Quadratic</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fit</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coefficients</a:t>
            </a:r>
            <a:r>
              <a:rPr lang="pl-PL" sz="1200" dirty="0">
                <a:latin typeface="Arial" panose="020B0604020202020204" pitchFamily="34" charset="0"/>
                <a:cs typeface="Arial" panose="020B0604020202020204" pitchFamily="34" charset="0"/>
              </a:rPr>
              <a:t> (mod2): [ 0.14801168 -0.1325985   1.54189536]</a:t>
            </a:r>
          </a:p>
          <a:p>
            <a:pPr lvl="2" algn="just"/>
            <a:endParaRPr lang="pl-PL" sz="1200" dirty="0">
              <a:latin typeface="Arial" panose="020B0604020202020204" pitchFamily="34" charset="0"/>
              <a:cs typeface="Arial" panose="020B0604020202020204" pitchFamily="34" charset="0"/>
            </a:endParaRPr>
          </a:p>
          <a:p>
            <a:pPr lvl="2" algn="just"/>
            <a:r>
              <a:rPr lang="pl-PL" sz="1200" dirty="0" err="1">
                <a:latin typeface="Arial" panose="020B0604020202020204" pitchFamily="34" charset="0"/>
                <a:cs typeface="Arial" panose="020B0604020202020204" pitchFamily="34" charset="0"/>
              </a:rPr>
              <a:t>Ng</a:t>
            </a:r>
            <a:r>
              <a:rPr lang="pl-PL" sz="1200" dirty="0">
                <a:latin typeface="Arial" panose="020B0604020202020204" pitchFamily="34" charset="0"/>
                <a:cs typeface="Arial" panose="020B0604020202020204" pitchFamily="34" charset="0"/>
              </a:rPr>
              <a:t> for </a:t>
            </a:r>
            <a:r>
              <a:rPr lang="pl-PL" sz="1200" dirty="0" err="1">
                <a:latin typeface="Arial" panose="020B0604020202020204" pitchFamily="34" charset="0"/>
                <a:cs typeface="Arial" panose="020B0604020202020204" pitchFamily="34" charset="0"/>
              </a:rPr>
              <a:t>mode</a:t>
            </a:r>
            <a:r>
              <a:rPr lang="pl-PL" sz="1200" dirty="0">
                <a:latin typeface="Arial" panose="020B0604020202020204" pitchFamily="34" charset="0"/>
                <a:cs typeface="Arial" panose="020B0604020202020204" pitchFamily="34" charset="0"/>
              </a:rPr>
              <a:t> 1: 1.9157617116968038</a:t>
            </a:r>
          </a:p>
          <a:p>
            <a:pPr lvl="2" algn="just"/>
            <a:r>
              <a:rPr lang="pl-PL" sz="1200" dirty="0" err="1">
                <a:latin typeface="Arial" panose="020B0604020202020204" pitchFamily="34" charset="0"/>
                <a:cs typeface="Arial" panose="020B0604020202020204" pitchFamily="34" charset="0"/>
              </a:rPr>
              <a:t>Ng</a:t>
            </a:r>
            <a:r>
              <a:rPr lang="pl-PL" sz="1200" dirty="0">
                <a:latin typeface="Arial" panose="020B0604020202020204" pitchFamily="34" charset="0"/>
                <a:cs typeface="Arial" panose="020B0604020202020204" pitchFamily="34" charset="0"/>
              </a:rPr>
              <a:t> for </a:t>
            </a:r>
            <a:r>
              <a:rPr lang="pl-PL" sz="1200" dirty="0" err="1">
                <a:latin typeface="Arial" panose="020B0604020202020204" pitchFamily="34" charset="0"/>
                <a:cs typeface="Arial" panose="020B0604020202020204" pitchFamily="34" charset="0"/>
              </a:rPr>
              <a:t>mode</a:t>
            </a:r>
            <a:r>
              <a:rPr lang="pl-PL" sz="1200" dirty="0">
                <a:latin typeface="Arial" panose="020B0604020202020204" pitchFamily="34" charset="0"/>
                <a:cs typeface="Arial" panose="020B0604020202020204" pitchFamily="34" charset="0"/>
              </a:rPr>
              <a:t> 2: 1.7474230444068224</a:t>
            </a:r>
          </a:p>
          <a:p>
            <a:pPr lvl="2" algn="just"/>
            <a:endParaRPr lang="pl-PL" sz="1200" dirty="0">
              <a:latin typeface="Arial" panose="020B0604020202020204" pitchFamily="34" charset="0"/>
              <a:cs typeface="Arial" panose="020B0604020202020204" pitchFamily="34" charset="0"/>
            </a:endParaRPr>
          </a:p>
          <a:p>
            <a:pPr lvl="2" algn="just"/>
            <a:r>
              <a:rPr lang="pl-PL" sz="1200" dirty="0">
                <a:latin typeface="Arial" panose="020B0604020202020204" pitchFamily="34" charset="0"/>
                <a:cs typeface="Arial" panose="020B0604020202020204" pitchFamily="34" charset="0"/>
              </a:rPr>
              <a:t>D for </a:t>
            </a:r>
            <a:r>
              <a:rPr lang="pl-PL" sz="1200" dirty="0" err="1">
                <a:latin typeface="Arial" panose="020B0604020202020204" pitchFamily="34" charset="0"/>
                <a:cs typeface="Arial" panose="020B0604020202020204" pitchFamily="34" charset="0"/>
              </a:rPr>
              <a:t>mode</a:t>
            </a:r>
            <a:r>
              <a:rPr lang="pl-PL" sz="1200" dirty="0">
                <a:latin typeface="Arial" panose="020B0604020202020204" pitchFamily="34" charset="0"/>
                <a:cs typeface="Arial" panose="020B0604020202020204" pitchFamily="34" charset="0"/>
              </a:rPr>
              <a:t> 1: -989.5411991849512 </a:t>
            </a:r>
            <a:r>
              <a:rPr lang="pl-PL" sz="1200" dirty="0" err="1">
                <a:latin typeface="Arial" panose="020B0604020202020204" pitchFamily="34" charset="0"/>
                <a:cs typeface="Arial" panose="020B0604020202020204" pitchFamily="34" charset="0"/>
              </a:rPr>
              <a:t>ps</a:t>
            </a:r>
            <a:r>
              <a:rPr lang="pl-PL" sz="1200" dirty="0">
                <a:latin typeface="Arial" panose="020B0604020202020204" pitchFamily="34" charset="0"/>
                <a:cs typeface="Arial" panose="020B0604020202020204" pitchFamily="34" charset="0"/>
              </a:rPr>
              <a:t>/(km*</a:t>
            </a:r>
            <a:r>
              <a:rPr lang="pl-PL" sz="1200" dirty="0" err="1">
                <a:latin typeface="Arial" panose="020B0604020202020204" pitchFamily="34" charset="0"/>
                <a:cs typeface="Arial" panose="020B0604020202020204" pitchFamily="34" charset="0"/>
              </a:rPr>
              <a:t>nm</a:t>
            </a:r>
            <a:r>
              <a:rPr lang="pl-PL" sz="1200" dirty="0">
                <a:latin typeface="Arial" panose="020B0604020202020204" pitchFamily="34" charset="0"/>
                <a:cs typeface="Arial" panose="020B0604020202020204" pitchFamily="34" charset="0"/>
              </a:rPr>
              <a:t>)</a:t>
            </a:r>
          </a:p>
          <a:p>
            <a:pPr lvl="2" algn="just"/>
            <a:r>
              <a:rPr lang="pl-PL" sz="1200" dirty="0">
                <a:latin typeface="Arial" panose="020B0604020202020204" pitchFamily="34" charset="0"/>
                <a:cs typeface="Arial" panose="020B0604020202020204" pitchFamily="34" charset="0"/>
              </a:rPr>
              <a:t>D for </a:t>
            </a:r>
            <a:r>
              <a:rPr lang="pl-PL" sz="1200" dirty="0" err="1">
                <a:latin typeface="Arial" panose="020B0604020202020204" pitchFamily="34" charset="0"/>
                <a:cs typeface="Arial" panose="020B0604020202020204" pitchFamily="34" charset="0"/>
              </a:rPr>
              <a:t>mode</a:t>
            </a:r>
            <a:r>
              <a:rPr lang="pl-PL" sz="1200" dirty="0">
                <a:latin typeface="Arial" panose="020B0604020202020204" pitchFamily="34" charset="0"/>
                <a:cs typeface="Arial" panose="020B0604020202020204" pitchFamily="34" charset="0"/>
              </a:rPr>
              <a:t> 2: -1530.5127982607453  </a:t>
            </a:r>
            <a:r>
              <a:rPr lang="pl-PL" sz="1200" dirty="0" err="1">
                <a:latin typeface="Arial" panose="020B0604020202020204" pitchFamily="34" charset="0"/>
                <a:cs typeface="Arial" panose="020B0604020202020204" pitchFamily="34" charset="0"/>
              </a:rPr>
              <a:t>ps</a:t>
            </a:r>
            <a:r>
              <a:rPr lang="pl-PL" sz="1200" dirty="0">
                <a:latin typeface="Arial" panose="020B0604020202020204" pitchFamily="34" charset="0"/>
                <a:cs typeface="Arial" panose="020B0604020202020204" pitchFamily="34" charset="0"/>
              </a:rPr>
              <a:t>/(km*</a:t>
            </a:r>
            <a:r>
              <a:rPr lang="pl-PL" sz="1200" dirty="0" err="1">
                <a:latin typeface="Arial" panose="020B0604020202020204" pitchFamily="34" charset="0"/>
                <a:cs typeface="Arial" panose="020B0604020202020204" pitchFamily="34" charset="0"/>
              </a:rPr>
              <a:t>nm</a:t>
            </a:r>
            <a:r>
              <a:rPr lang="pl-PL" sz="1200" dirty="0">
                <a:latin typeface="Arial" panose="020B0604020202020204" pitchFamily="34" charset="0"/>
                <a:cs typeface="Arial" panose="020B0604020202020204" pitchFamily="34" charset="0"/>
              </a:rPr>
              <a:t>)</a:t>
            </a:r>
          </a:p>
          <a:p>
            <a:pPr algn="just"/>
            <a:endParaRPr lang="pl-PL" sz="1200" dirty="0">
              <a:latin typeface="Arial" panose="020B0604020202020204" pitchFamily="34" charset="0"/>
              <a:cs typeface="Arial" panose="020B0604020202020204" pitchFamily="34" charset="0"/>
            </a:endParaRPr>
          </a:p>
          <a:p>
            <a:pPr algn="just"/>
            <a:endParaRPr lang="pl-PL"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second-degree polynomial coefficients</a:t>
            </a:r>
            <a:r>
              <a:rPr lang="pl-PL" sz="1200" dirty="0">
                <a:latin typeface="Arial" panose="020B0604020202020204" pitchFamily="34" charset="0"/>
                <a:cs typeface="Arial" panose="020B0604020202020204" pitchFamily="34" charset="0"/>
              </a:rPr>
              <a:t> for </a:t>
            </a:r>
            <a:r>
              <a:rPr lang="pl-PL" sz="1200" dirty="0" err="1">
                <a:latin typeface="Arial" panose="020B0604020202020204" pitchFamily="34" charset="0"/>
                <a:cs typeface="Arial" panose="020B0604020202020204" pitchFamily="34" charset="0"/>
              </a:rPr>
              <a:t>deep</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waveguide</a:t>
            </a:r>
            <a:r>
              <a:rPr lang="pl-PL" sz="1200" dirty="0">
                <a:latin typeface="Arial" panose="020B0604020202020204" pitchFamily="34" charset="0"/>
                <a:cs typeface="Arial" panose="020B0604020202020204" pitchFamily="34" charset="0"/>
              </a:rPr>
              <a:t>, D:</a:t>
            </a:r>
          </a:p>
          <a:p>
            <a:pPr algn="just"/>
            <a:endParaRPr lang="pl-PL" sz="1200" dirty="0">
              <a:latin typeface="Arial" panose="020B0604020202020204" pitchFamily="34" charset="0"/>
              <a:cs typeface="Arial" panose="020B0604020202020204" pitchFamily="34" charset="0"/>
            </a:endParaRPr>
          </a:p>
          <a:p>
            <a:pPr algn="just"/>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Quadratic</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fit</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coefficients</a:t>
            </a:r>
            <a:r>
              <a:rPr lang="pl-PL" sz="1200" dirty="0">
                <a:latin typeface="Arial" panose="020B0604020202020204" pitchFamily="34" charset="0"/>
                <a:cs typeface="Arial" panose="020B0604020202020204" pitchFamily="34" charset="0"/>
              </a:rPr>
              <a:t> (mod1): [ 0.09735507 -0.21617695  1.60491663]</a:t>
            </a:r>
          </a:p>
          <a:p>
            <a:pPr lvl="2" algn="just"/>
            <a:r>
              <a:rPr lang="pl-PL" sz="1200" dirty="0" err="1">
                <a:latin typeface="Arial" panose="020B0604020202020204" pitchFamily="34" charset="0"/>
                <a:cs typeface="Arial" panose="020B0604020202020204" pitchFamily="34" charset="0"/>
              </a:rPr>
              <a:t>Quadratic</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fit</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coefficients</a:t>
            </a:r>
            <a:r>
              <a:rPr lang="pl-PL" sz="1200" dirty="0">
                <a:latin typeface="Arial" panose="020B0604020202020204" pitchFamily="34" charset="0"/>
                <a:cs typeface="Arial" panose="020B0604020202020204" pitchFamily="34" charset="0"/>
              </a:rPr>
              <a:t> (mod2): [ 0.15383171 -0.15795878  1.52718923]</a:t>
            </a:r>
          </a:p>
          <a:p>
            <a:pPr lvl="2" algn="just"/>
            <a:endParaRPr lang="pl-PL" sz="1200" dirty="0">
              <a:latin typeface="Arial" panose="020B0604020202020204" pitchFamily="34" charset="0"/>
              <a:cs typeface="Arial" panose="020B0604020202020204" pitchFamily="34" charset="0"/>
            </a:endParaRPr>
          </a:p>
          <a:p>
            <a:pPr lvl="2" algn="just"/>
            <a:r>
              <a:rPr lang="pl-PL" sz="1200" dirty="0" err="1">
                <a:latin typeface="Arial" panose="020B0604020202020204" pitchFamily="34" charset="0"/>
                <a:cs typeface="Arial" panose="020B0604020202020204" pitchFamily="34" charset="0"/>
              </a:rPr>
              <a:t>Ng</a:t>
            </a:r>
            <a:r>
              <a:rPr lang="pl-PL" sz="1200" dirty="0">
                <a:latin typeface="Arial" panose="020B0604020202020204" pitchFamily="34" charset="0"/>
                <a:cs typeface="Arial" panose="020B0604020202020204" pitchFamily="34" charset="0"/>
              </a:rPr>
              <a:t> for </a:t>
            </a:r>
            <a:r>
              <a:rPr lang="pl-PL" sz="1200" dirty="0" err="1">
                <a:latin typeface="Arial" panose="020B0604020202020204" pitchFamily="34" charset="0"/>
                <a:cs typeface="Arial" panose="020B0604020202020204" pitchFamily="34" charset="0"/>
              </a:rPr>
              <a:t>mode</a:t>
            </a:r>
            <a:r>
              <a:rPr lang="pl-PL" sz="1200" dirty="0">
                <a:latin typeface="Arial" panose="020B0604020202020204" pitchFamily="34" charset="0"/>
                <a:cs typeface="Arial" panose="020B0604020202020204" pitchFamily="34" charset="0"/>
              </a:rPr>
              <a:t> 1: 1.939990900810061</a:t>
            </a:r>
          </a:p>
          <a:p>
            <a:pPr lvl="2" algn="just"/>
            <a:r>
              <a:rPr lang="pl-PL" sz="1200" dirty="0" err="1">
                <a:latin typeface="Arial" panose="020B0604020202020204" pitchFamily="34" charset="0"/>
                <a:cs typeface="Arial" panose="020B0604020202020204" pitchFamily="34" charset="0"/>
              </a:rPr>
              <a:t>Ng</a:t>
            </a:r>
            <a:r>
              <a:rPr lang="pl-PL" sz="1200" dirty="0">
                <a:latin typeface="Arial" panose="020B0604020202020204" pitchFamily="34" charset="0"/>
                <a:cs typeface="Arial" panose="020B0604020202020204" pitchFamily="34" charset="0"/>
              </a:rPr>
              <a:t> for </a:t>
            </a:r>
            <a:r>
              <a:rPr lang="pl-PL" sz="1200" dirty="0" err="1">
                <a:latin typeface="Arial" panose="020B0604020202020204" pitchFamily="34" charset="0"/>
                <a:cs typeface="Arial" panose="020B0604020202020204" pitchFamily="34" charset="0"/>
              </a:rPr>
              <a:t>mode</a:t>
            </a:r>
            <a:r>
              <a:rPr lang="pl-PL" sz="1200" dirty="0">
                <a:latin typeface="Arial" panose="020B0604020202020204" pitchFamily="34" charset="0"/>
                <a:cs typeface="Arial" panose="020B0604020202020204" pitchFamily="34" charset="0"/>
              </a:rPr>
              <a:t> 2: 1.7720253478666539</a:t>
            </a:r>
          </a:p>
          <a:p>
            <a:pPr lvl="2" algn="just"/>
            <a:endParaRPr lang="pl-PL" sz="1200" dirty="0">
              <a:latin typeface="Arial" panose="020B0604020202020204" pitchFamily="34" charset="0"/>
              <a:cs typeface="Arial" panose="020B0604020202020204" pitchFamily="34" charset="0"/>
            </a:endParaRPr>
          </a:p>
          <a:p>
            <a:pPr lvl="2" algn="just"/>
            <a:r>
              <a:rPr lang="pl-PL" sz="1200" dirty="0">
                <a:latin typeface="Arial" panose="020B0604020202020204" pitchFamily="34" charset="0"/>
                <a:cs typeface="Arial" panose="020B0604020202020204" pitchFamily="34" charset="0"/>
              </a:rPr>
              <a:t>D for </a:t>
            </a:r>
            <a:r>
              <a:rPr lang="pl-PL" sz="1200" dirty="0" err="1">
                <a:latin typeface="Arial" panose="020B0604020202020204" pitchFamily="34" charset="0"/>
                <a:cs typeface="Arial" panose="020B0604020202020204" pitchFamily="34" charset="0"/>
              </a:rPr>
              <a:t>mode</a:t>
            </a:r>
            <a:r>
              <a:rPr lang="pl-PL" sz="1200" dirty="0">
                <a:latin typeface="Arial" panose="020B0604020202020204" pitchFamily="34" charset="0"/>
                <a:cs typeface="Arial" panose="020B0604020202020204" pitchFamily="34" charset="0"/>
              </a:rPr>
              <a:t> 1: -1006.6987866653995  </a:t>
            </a:r>
            <a:r>
              <a:rPr lang="pl-PL" sz="1200" dirty="0" err="1">
                <a:latin typeface="Arial" panose="020B0604020202020204" pitchFamily="34" charset="0"/>
                <a:cs typeface="Arial" panose="020B0604020202020204" pitchFamily="34" charset="0"/>
              </a:rPr>
              <a:t>ps</a:t>
            </a:r>
            <a:r>
              <a:rPr lang="pl-PL" sz="1200" dirty="0">
                <a:latin typeface="Arial" panose="020B0604020202020204" pitchFamily="34" charset="0"/>
                <a:cs typeface="Arial" panose="020B0604020202020204" pitchFamily="34" charset="0"/>
              </a:rPr>
              <a:t>/(km*</a:t>
            </a:r>
            <a:r>
              <a:rPr lang="pl-PL" sz="1200" dirty="0" err="1">
                <a:latin typeface="Arial" panose="020B0604020202020204" pitchFamily="34" charset="0"/>
                <a:cs typeface="Arial" panose="020B0604020202020204" pitchFamily="34" charset="0"/>
              </a:rPr>
              <a:t>nm</a:t>
            </a:r>
            <a:r>
              <a:rPr lang="pl-PL" sz="1200" dirty="0">
                <a:latin typeface="Arial" panose="020B0604020202020204" pitchFamily="34" charset="0"/>
                <a:cs typeface="Arial" panose="020B0604020202020204" pitchFamily="34" charset="0"/>
              </a:rPr>
              <a:t>)</a:t>
            </a:r>
          </a:p>
          <a:p>
            <a:pPr lvl="2" algn="just"/>
            <a:r>
              <a:rPr lang="pl-PL" sz="1200" dirty="0">
                <a:latin typeface="Arial" panose="020B0604020202020204" pitchFamily="34" charset="0"/>
                <a:cs typeface="Arial" panose="020B0604020202020204" pitchFamily="34" charset="0"/>
              </a:rPr>
              <a:t>D for </a:t>
            </a:r>
            <a:r>
              <a:rPr lang="pl-PL" sz="1200" dirty="0" err="1">
                <a:latin typeface="Arial" panose="020B0604020202020204" pitchFamily="34" charset="0"/>
                <a:cs typeface="Arial" panose="020B0604020202020204" pitchFamily="34" charset="0"/>
              </a:rPr>
              <a:t>mode</a:t>
            </a:r>
            <a:r>
              <a:rPr lang="pl-PL" sz="1200" dirty="0">
                <a:latin typeface="Arial" panose="020B0604020202020204" pitchFamily="34" charset="0"/>
                <a:cs typeface="Arial" panose="020B0604020202020204" pitchFamily="34" charset="0"/>
              </a:rPr>
              <a:t> 2: -1590.694823439326  </a:t>
            </a:r>
            <a:r>
              <a:rPr lang="pl-PL" sz="1200" dirty="0" err="1">
                <a:latin typeface="Arial" panose="020B0604020202020204" pitchFamily="34" charset="0"/>
                <a:cs typeface="Arial" panose="020B0604020202020204" pitchFamily="34" charset="0"/>
              </a:rPr>
              <a:t>ps</a:t>
            </a:r>
            <a:r>
              <a:rPr lang="pl-PL" sz="1200" dirty="0">
                <a:latin typeface="Arial" panose="020B0604020202020204" pitchFamily="34" charset="0"/>
                <a:cs typeface="Arial" panose="020B0604020202020204" pitchFamily="34" charset="0"/>
              </a:rPr>
              <a:t>/(km*</a:t>
            </a:r>
            <a:r>
              <a:rPr lang="pl-PL" sz="1200" dirty="0" err="1">
                <a:latin typeface="Arial" panose="020B0604020202020204" pitchFamily="34" charset="0"/>
                <a:cs typeface="Arial" panose="020B0604020202020204" pitchFamily="34" charset="0"/>
              </a:rPr>
              <a:t>nm</a:t>
            </a:r>
            <a:r>
              <a:rPr lang="pl-PL" sz="1200" dirty="0">
                <a:latin typeface="Arial" panose="020B0604020202020204" pitchFamily="34" charset="0"/>
                <a:cs typeface="Arial" panose="020B0604020202020204" pitchFamily="34" charset="0"/>
              </a:rPr>
              <a:t>)</a:t>
            </a:r>
          </a:p>
          <a:p>
            <a:pPr lvl="2" algn="just"/>
            <a:endParaRPr lang="pl-PL" sz="1200" dirty="0">
              <a:latin typeface="Arial" panose="020B0604020202020204" pitchFamily="34" charset="0"/>
              <a:cs typeface="Arial" panose="020B0604020202020204" pitchFamily="34" charset="0"/>
            </a:endParaRPr>
          </a:p>
          <a:p>
            <a:pPr algn="just"/>
            <a:r>
              <a:rPr lang="pl-PL" sz="1200" dirty="0" err="1">
                <a:latin typeface="Arial" panose="020B0604020202020204" pitchFamily="34" charset="0"/>
                <a:cs typeface="Arial" panose="020B0604020202020204" pitchFamily="34" charset="0"/>
              </a:rPr>
              <a:t>Deep</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waveguides</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are</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better</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at</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keeping</a:t>
            </a:r>
            <a:r>
              <a:rPr lang="pl-PL" sz="1200" dirty="0">
                <a:latin typeface="Arial" panose="020B0604020202020204" pitchFamily="34" charset="0"/>
                <a:cs typeface="Arial" panose="020B0604020202020204" pitchFamily="34" charset="0"/>
              </a:rPr>
              <a:t> the </a:t>
            </a:r>
            <a:r>
              <a:rPr lang="pl-PL" sz="1200" dirty="0" err="1">
                <a:latin typeface="Arial" panose="020B0604020202020204" pitchFamily="34" charset="0"/>
                <a:cs typeface="Arial" panose="020B0604020202020204" pitchFamily="34" charset="0"/>
              </a:rPr>
              <a:t>light</a:t>
            </a:r>
            <a:r>
              <a:rPr lang="pl-PL" sz="1200" dirty="0">
                <a:latin typeface="Arial" panose="020B0604020202020204" pitchFamily="34" charset="0"/>
                <a:cs typeface="Arial" panose="020B0604020202020204" pitchFamily="34" charset="0"/>
              </a:rPr>
              <a:t> in.</a:t>
            </a:r>
          </a:p>
        </p:txBody>
      </p:sp>
    </p:spTree>
    <p:extLst>
      <p:ext uri="{BB962C8B-B14F-4D97-AF65-F5344CB8AC3E}">
        <p14:creationId xmlns:p14="http://schemas.microsoft.com/office/powerpoint/2010/main" val="4142882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which is the safe radius?, consider safe means less than 0.1 dB/90º.</a:t>
            </a:r>
          </a:p>
          <a:p>
            <a:pPr algn="just"/>
            <a:endParaRPr lang="en-US" sz="1200" u="sng"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pl-PL" sz="1200" dirty="0" err="1">
                <a:latin typeface="Arial" panose="020B0604020202020204" pitchFamily="34" charset="0"/>
                <a:cs typeface="Arial" panose="020B0604020202020204" pitchFamily="34" charset="0"/>
              </a:rPr>
              <a:t>Safe</a:t>
            </a:r>
            <a:r>
              <a:rPr lang="pl-PL" sz="1200" dirty="0">
                <a:latin typeface="Arial" panose="020B0604020202020204" pitchFamily="34" charset="0"/>
                <a:cs typeface="Arial" panose="020B0604020202020204" pitchFamily="34" charset="0"/>
              </a:rPr>
              <a:t> radius </a:t>
            </a:r>
            <a:r>
              <a:rPr lang="pl-PL" sz="1200" dirty="0" err="1">
                <a:latin typeface="Arial" panose="020B0604020202020204" pitchFamily="34" charset="0"/>
                <a:cs typeface="Arial" panose="020B0604020202020204" pitchFamily="34" charset="0"/>
              </a:rPr>
              <a:t>is</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under</a:t>
            </a:r>
            <a:r>
              <a:rPr lang="pl-PL" sz="1200" dirty="0">
                <a:latin typeface="Arial" panose="020B0604020202020204" pitchFamily="34" charset="0"/>
                <a:cs typeface="Arial" panose="020B0604020202020204" pitchFamily="34" charset="0"/>
              </a:rPr>
              <a:t> ~25um.</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31EBD86-BA6C-68C9-2D38-FC8CFBA7ADC4}"/>
              </a:ext>
            </a:extLst>
          </p:cNvPr>
          <p:cNvSpPr txBox="1"/>
          <p:nvPr/>
        </p:nvSpPr>
        <p:spPr>
          <a:xfrm>
            <a:off x="2978141" y="2784355"/>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6" name="Obraz 5">
            <a:extLst>
              <a:ext uri="{FF2B5EF4-FFF2-40B4-BE49-F238E27FC236}">
                <a16:creationId xmlns:a16="http://schemas.microsoft.com/office/drawing/2014/main" id="{DC2FB321-F26A-41EE-CAFD-EC9E3DF4AECF}"/>
              </a:ext>
            </a:extLst>
          </p:cNvPr>
          <p:cNvPicPr>
            <a:picLocks noChangeAspect="1"/>
          </p:cNvPicPr>
          <p:nvPr/>
        </p:nvPicPr>
        <p:blipFill>
          <a:blip r:embed="rId5"/>
          <a:stretch>
            <a:fillRect/>
          </a:stretch>
        </p:blipFill>
        <p:spPr>
          <a:xfrm>
            <a:off x="4038600" y="1521424"/>
            <a:ext cx="3924301" cy="3099925"/>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E704B-85A6-C2AE-3577-868961F9F67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BCE12F-A562-FAC3-44EC-A21EBBE1084D}"/>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pl-PL" sz="2500" dirty="0"/>
              <a:t>EXTRA 1</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ECF16E88-6B56-D1C9-ACAD-8894DA50CF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1807913-847F-A93F-E6F2-2D43B2FB6734}"/>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7DCE646F-7F37-FD40-45A8-6C344EC95BA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169FFAAD-9CEE-FCE3-F2BB-071A0F218193}"/>
              </a:ext>
            </a:extLst>
          </p:cNvPr>
          <p:cNvSpPr txBox="1"/>
          <p:nvPr/>
        </p:nvSpPr>
        <p:spPr>
          <a:xfrm>
            <a:off x="609441" y="4860334"/>
            <a:ext cx="11199971" cy="276999"/>
          </a:xfrm>
          <a:prstGeom prst="rect">
            <a:avLst/>
          </a:prstGeom>
          <a:solidFill>
            <a:schemeClr val="bg1">
              <a:lumMod val="95000"/>
            </a:schemeClr>
          </a:solidFill>
          <a:ln w="28575">
            <a:solidFill>
              <a:srgbClr val="E0700D"/>
            </a:solidFill>
          </a:ln>
        </p:spPr>
        <p:txBody>
          <a:bodyPr wrap="square" rtlCol="0">
            <a:spAutoFit/>
          </a:bodyPr>
          <a:lstStyle/>
          <a:p>
            <a:pPr algn="just"/>
            <a:r>
              <a:rPr lang="pl-PL" sz="1200" dirty="0" err="1">
                <a:latin typeface="Arial" panose="020B0604020202020204" pitchFamily="34" charset="0"/>
                <a:cs typeface="Arial" panose="020B0604020202020204" pitchFamily="34" charset="0"/>
              </a:rPr>
              <a:t>Neff</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is</a:t>
            </a:r>
            <a:r>
              <a:rPr lang="pl-PL" sz="1200" dirty="0">
                <a:latin typeface="Arial" panose="020B0604020202020204" pitchFamily="34" charset="0"/>
                <a:cs typeface="Arial" panose="020B0604020202020204" pitchFamily="34" charset="0"/>
              </a:rPr>
              <a:t> much </a:t>
            </a:r>
            <a:r>
              <a:rPr lang="pl-PL" sz="1200" dirty="0" err="1">
                <a:latin typeface="Arial" panose="020B0604020202020204" pitchFamily="34" charset="0"/>
                <a:cs typeface="Arial" panose="020B0604020202020204" pitchFamily="34" charset="0"/>
              </a:rPr>
              <a:t>higher</a:t>
            </a:r>
            <a:r>
              <a:rPr lang="pl-PL" sz="1200" dirty="0">
                <a:latin typeface="Arial" panose="020B0604020202020204" pitchFamily="34" charset="0"/>
                <a:cs typeface="Arial" panose="020B0604020202020204" pitchFamily="34" charset="0"/>
              </a:rPr>
              <a:t> for Si </a:t>
            </a:r>
            <a:r>
              <a:rPr lang="pl-PL" sz="1200" dirty="0" err="1">
                <a:latin typeface="Arial" panose="020B0604020202020204" pitchFamily="34" charset="0"/>
                <a:cs typeface="Arial" panose="020B0604020202020204" pitchFamily="34" charset="0"/>
              </a:rPr>
              <a:t>especialy</a:t>
            </a:r>
            <a:r>
              <a:rPr lang="pl-PL" sz="1200" dirty="0">
                <a:latin typeface="Arial" panose="020B0604020202020204" pitchFamily="34" charset="0"/>
                <a:cs typeface="Arial" panose="020B0604020202020204" pitchFamily="34" charset="0"/>
              </a:rPr>
              <a:t> for </a:t>
            </a:r>
            <a:r>
              <a:rPr lang="pl-PL" sz="1200" dirty="0" err="1">
                <a:latin typeface="Arial" panose="020B0604020202020204" pitchFamily="34" charset="0"/>
                <a:cs typeface="Arial" panose="020B0604020202020204" pitchFamily="34" charset="0"/>
              </a:rPr>
              <a:t>low</a:t>
            </a:r>
            <a:r>
              <a:rPr lang="pl-PL" sz="1200" dirty="0">
                <a:latin typeface="Arial" panose="020B0604020202020204" pitchFamily="34" charset="0"/>
                <a:cs typeface="Arial" panose="020B0604020202020204" pitchFamily="34" charset="0"/>
              </a:rPr>
              <a:t>-n </a:t>
            </a:r>
            <a:r>
              <a:rPr lang="pl-PL" sz="1200" dirty="0" err="1">
                <a:latin typeface="Arial" panose="020B0604020202020204" pitchFamily="34" charset="0"/>
                <a:cs typeface="Arial" panose="020B0604020202020204" pitchFamily="34" charset="0"/>
              </a:rPr>
              <a:t>modes</a:t>
            </a:r>
            <a:r>
              <a:rPr lang="pl-PL"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CB5E398-A04B-344A-435B-BB908A37A151}"/>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5379B27E-A72F-6D68-F95A-FF377561D783}"/>
              </a:ext>
            </a:extLst>
          </p:cNvPr>
          <p:cNvSpPr txBox="1"/>
          <p:nvPr/>
        </p:nvSpPr>
        <p:spPr>
          <a:xfrm>
            <a:off x="2978141" y="2784355"/>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5" name="Obraz 4">
            <a:extLst>
              <a:ext uri="{FF2B5EF4-FFF2-40B4-BE49-F238E27FC236}">
                <a16:creationId xmlns:a16="http://schemas.microsoft.com/office/drawing/2014/main" id="{2D49DA0C-19F1-9149-CBFB-3C6134F5EAD6}"/>
              </a:ext>
            </a:extLst>
          </p:cNvPr>
          <p:cNvPicPr>
            <a:picLocks noChangeAspect="1"/>
          </p:cNvPicPr>
          <p:nvPr/>
        </p:nvPicPr>
        <p:blipFill>
          <a:blip r:embed="rId5"/>
          <a:stretch>
            <a:fillRect/>
          </a:stretch>
        </p:blipFill>
        <p:spPr>
          <a:xfrm>
            <a:off x="3500438" y="1536001"/>
            <a:ext cx="5417976" cy="3164253"/>
          </a:xfrm>
          <a:prstGeom prst="rect">
            <a:avLst/>
          </a:prstGeom>
        </p:spPr>
      </p:pic>
    </p:spTree>
    <p:extLst>
      <p:ext uri="{BB962C8B-B14F-4D97-AF65-F5344CB8AC3E}">
        <p14:creationId xmlns:p14="http://schemas.microsoft.com/office/powerpoint/2010/main" val="4145382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FCC64-B940-6EFF-D319-3195028FC78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78D5B72-E48C-E090-1773-52506C40E49D}"/>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pl-PL" sz="2500" dirty="0"/>
              <a:t>EXTRA 2</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A270C9AC-1E34-5D58-EED7-6D42929EC0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8DD645B-3F97-92B2-0B8C-10488E90A5E6}"/>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5B6BA9AC-C06D-65E3-4411-42B1C7D26A9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32CA00E-71D2-1AAD-98AD-505CE6590BF4}"/>
              </a:ext>
            </a:extLst>
          </p:cNvPr>
          <p:cNvSpPr txBox="1"/>
          <p:nvPr/>
        </p:nvSpPr>
        <p:spPr>
          <a:xfrm>
            <a:off x="609441" y="4860334"/>
            <a:ext cx="11199971" cy="46166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The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is significantly</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too</a:t>
            </a:r>
            <a:r>
              <a:rPr lang="pl-PL" sz="1200" dirty="0">
                <a:latin typeface="Arial" panose="020B0604020202020204" pitchFamily="34" charset="0"/>
                <a:cs typeface="Arial" panose="020B0604020202020204" pitchFamily="34" charset="0"/>
              </a:rPr>
              <a:t> high)</a:t>
            </a:r>
            <a:r>
              <a:rPr lang="en-US" sz="1200" dirty="0">
                <a:latin typeface="Arial" panose="020B0604020202020204" pitchFamily="34" charset="0"/>
                <a:cs typeface="Arial" panose="020B0604020202020204" pitchFamily="34" charset="0"/>
              </a:rPr>
              <a:t> higher for silicon (Si), and the curvature of the effective index plots exhibits a more logarithmic character.</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There</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is</a:t>
            </a:r>
            <a:r>
              <a:rPr lang="pl-PL" sz="1200" dirty="0">
                <a:latin typeface="Arial" panose="020B0604020202020204" pitchFamily="34" charset="0"/>
                <a:cs typeface="Arial" panose="020B0604020202020204" pitchFamily="34" charset="0"/>
              </a:rPr>
              <a:t> </a:t>
            </a:r>
            <a:r>
              <a:rPr lang="pl-PL" sz="1200" dirty="0" err="1">
                <a:latin typeface="Arial" panose="020B0604020202020204" pitchFamily="34" charset="0"/>
                <a:cs typeface="Arial" panose="020B0604020202020204" pitchFamily="34" charset="0"/>
              </a:rPr>
              <a:t>probably</a:t>
            </a:r>
            <a:r>
              <a:rPr lang="pl-PL" sz="1200" dirty="0">
                <a:latin typeface="Arial" panose="020B0604020202020204" pitchFamily="34" charset="0"/>
                <a:cs typeface="Arial" panose="020B0604020202020204" pitchFamily="34" charset="0"/>
              </a:rPr>
              <a:t> a </a:t>
            </a:r>
            <a:r>
              <a:rPr lang="pl-PL" sz="1200" dirty="0" err="1">
                <a:latin typeface="Arial" panose="020B0604020202020204" pitchFamily="34" charset="0"/>
                <a:cs typeface="Arial" panose="020B0604020202020204" pitchFamily="34" charset="0"/>
              </a:rPr>
              <a:t>comutational</a:t>
            </a:r>
            <a:r>
              <a:rPr lang="pl-PL" sz="1200">
                <a:latin typeface="Arial" panose="020B0604020202020204" pitchFamily="34" charset="0"/>
                <a:cs typeface="Arial" panose="020B0604020202020204" pitchFamily="34" charset="0"/>
              </a:rPr>
              <a:t> error.</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359C9759-5B61-8407-FD9C-D85A32C8D654}"/>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34D6BD6-C9DC-7A93-077F-0B284C4BC8B3}"/>
              </a:ext>
            </a:extLst>
          </p:cNvPr>
          <p:cNvSpPr txBox="1"/>
          <p:nvPr/>
        </p:nvSpPr>
        <p:spPr>
          <a:xfrm>
            <a:off x="2978141" y="2784355"/>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13" name="Obraz 12">
            <a:extLst>
              <a:ext uri="{FF2B5EF4-FFF2-40B4-BE49-F238E27FC236}">
                <a16:creationId xmlns:a16="http://schemas.microsoft.com/office/drawing/2014/main" id="{EC7C466E-2F43-A855-11FF-ABC458F0DE3F}"/>
              </a:ext>
            </a:extLst>
          </p:cNvPr>
          <p:cNvPicPr>
            <a:picLocks noChangeAspect="1"/>
          </p:cNvPicPr>
          <p:nvPr/>
        </p:nvPicPr>
        <p:blipFill>
          <a:blip r:embed="rId5"/>
          <a:stretch>
            <a:fillRect/>
          </a:stretch>
        </p:blipFill>
        <p:spPr>
          <a:xfrm>
            <a:off x="3477120" y="1524000"/>
            <a:ext cx="5237759" cy="3049124"/>
          </a:xfrm>
          <a:prstGeom prst="rect">
            <a:avLst/>
          </a:prstGeom>
        </p:spPr>
      </p:pic>
    </p:spTree>
    <p:extLst>
      <p:ext uri="{BB962C8B-B14F-4D97-AF65-F5344CB8AC3E}">
        <p14:creationId xmlns:p14="http://schemas.microsoft.com/office/powerpoint/2010/main" val="3039155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E4B8B-48A1-2505-6517-987DBCF745F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978C91F-2EB9-4D2F-ADA2-86486FBDF7D3}"/>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pl-PL" sz="2500" dirty="0"/>
              <a:t>EXTRA 3</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E94ABCC1-F72E-76DE-5B3F-37BB65C294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C2EABAE-6881-AF08-3785-F8BE1609D0BD}"/>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C6808E01-C5D2-E851-FFDA-46A6B2C8C902}"/>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BF3E3363-31FA-85A1-CDF4-8C55654451E3}"/>
              </a:ext>
            </a:extLst>
          </p:cNvPr>
          <p:cNvSpPr txBox="1"/>
          <p:nvPr/>
        </p:nvSpPr>
        <p:spPr>
          <a:xfrm>
            <a:off x="609441" y="4860334"/>
            <a:ext cx="11199971" cy="27699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The safe bending radius is extremely small but increases rapidly with changing </a:t>
            </a:r>
            <a:r>
              <a:rPr lang="pl-PL" sz="1200" dirty="0">
                <a:latin typeface="Arial" panose="020B0604020202020204" pitchFamily="34" charset="0"/>
                <a:cs typeface="Arial" panose="020B0604020202020204" pitchFamily="34" charset="0"/>
              </a:rPr>
              <a:t>radius</a:t>
            </a:r>
            <a:r>
              <a:rPr lang="en-US" sz="1200" dirty="0">
                <a:latin typeface="Arial" panose="020B0604020202020204" pitchFamily="34" charset="0"/>
                <a:cs typeface="Arial" panose="020B0604020202020204" pitchFamily="34" charset="0"/>
              </a:rPr>
              <a:t>.</a:t>
            </a:r>
          </a:p>
        </p:txBody>
      </p:sp>
      <p:sp>
        <p:nvSpPr>
          <p:cNvPr id="7" name="Rectángulo 6">
            <a:extLst>
              <a:ext uri="{FF2B5EF4-FFF2-40B4-BE49-F238E27FC236}">
                <a16:creationId xmlns:a16="http://schemas.microsoft.com/office/drawing/2014/main" id="{A34869B0-DB8F-0716-B10F-DF42155DE01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2C55783-4CD2-3CE7-0B2E-796DDCB604DF}"/>
              </a:ext>
            </a:extLst>
          </p:cNvPr>
          <p:cNvSpPr txBox="1"/>
          <p:nvPr/>
        </p:nvSpPr>
        <p:spPr>
          <a:xfrm>
            <a:off x="2978141" y="2784355"/>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10" name="Obraz 9">
            <a:extLst>
              <a:ext uri="{FF2B5EF4-FFF2-40B4-BE49-F238E27FC236}">
                <a16:creationId xmlns:a16="http://schemas.microsoft.com/office/drawing/2014/main" id="{A98BD311-8BFE-CADA-3540-318667BF5090}"/>
              </a:ext>
            </a:extLst>
          </p:cNvPr>
          <p:cNvPicPr>
            <a:picLocks noChangeAspect="1"/>
          </p:cNvPicPr>
          <p:nvPr/>
        </p:nvPicPr>
        <p:blipFill>
          <a:blip r:embed="rId5"/>
          <a:stretch>
            <a:fillRect/>
          </a:stretch>
        </p:blipFill>
        <p:spPr>
          <a:xfrm>
            <a:off x="4076700" y="1587494"/>
            <a:ext cx="4038600" cy="3119801"/>
          </a:xfrm>
          <a:prstGeom prst="rect">
            <a:avLst/>
          </a:prstGeom>
        </p:spPr>
      </p:pic>
    </p:spTree>
    <p:extLst>
      <p:ext uri="{BB962C8B-B14F-4D97-AF65-F5344CB8AC3E}">
        <p14:creationId xmlns:p14="http://schemas.microsoft.com/office/powerpoint/2010/main" val="2127977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15</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2919</TotalTime>
  <Words>1085</Words>
  <Application>Microsoft Office PowerPoint</Application>
  <PresentationFormat>Panoramiczny</PresentationFormat>
  <Paragraphs>158</Paragraphs>
  <Slides>15</Slides>
  <Notes>9</Notes>
  <HiddenSlides>0</HiddenSlides>
  <MMClips>0</MMClips>
  <ScaleCrop>false</ScaleCrop>
  <HeadingPairs>
    <vt:vector size="6" baseType="variant">
      <vt:variant>
        <vt:lpstr>Używane czcionki</vt:lpstr>
      </vt:variant>
      <vt:variant>
        <vt:i4>7</vt:i4>
      </vt:variant>
      <vt:variant>
        <vt:lpstr>Motyw</vt:lpstr>
      </vt:variant>
      <vt:variant>
        <vt:i4>1</vt:i4>
      </vt:variant>
      <vt:variant>
        <vt:lpstr>Tytuły slajdów</vt:lpstr>
      </vt:variant>
      <vt:variant>
        <vt:i4>15</vt:i4>
      </vt:variant>
    </vt:vector>
  </HeadingPairs>
  <TitlesOfParts>
    <vt:vector size="23" baseType="lpstr">
      <vt:lpstr>Aptos</vt:lpstr>
      <vt:lpstr>Arial</vt:lpstr>
      <vt:lpstr>Calibri</vt:lpstr>
      <vt:lpstr>Cambria Math</vt:lpstr>
      <vt:lpstr>Lucida Sans</vt:lpstr>
      <vt:lpstr>Times New Roman</vt:lpstr>
      <vt:lpstr>Wingdings</vt:lpstr>
      <vt:lpstr>Office Theme</vt:lpstr>
      <vt:lpstr>Prezentacja programu PowerPoint</vt:lpstr>
      <vt:lpstr>Instructions General</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#4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EXTRA 1 </vt:lpstr>
      <vt:lpstr>EXTRA 2 </vt:lpstr>
      <vt:lpstr>EXTRA 3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Antoni Piałucha (275411)</cp:lastModifiedBy>
  <cp:revision>14</cp:revision>
  <dcterms:created xsi:type="dcterms:W3CDTF">2025-01-27T02:46:57Z</dcterms:created>
  <dcterms:modified xsi:type="dcterms:W3CDTF">2026-03-03T19:28:35Z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